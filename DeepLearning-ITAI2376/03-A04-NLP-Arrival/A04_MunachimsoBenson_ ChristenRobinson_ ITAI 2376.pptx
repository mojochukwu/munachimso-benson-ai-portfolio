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微软雅黑" panose="020B0503020204020204" pitchFamily="34" charset="-122"/>
      <p:regular r:id="rId17"/>
      <p:bold r:id="rId18"/>
    </p:embeddedFont>
    <p:embeddedFont>
      <p:font typeface="Liter" panose="020B0604020202020204" charset="0"/>
      <p:regular r:id="rId19"/>
    </p:embeddedFont>
    <p:embeddedFont>
      <p:font typeface="Oranienbaum" panose="02000506080000020003" pitchFamily="2" charset="0"/>
      <p:regular r:id="rId20"/>
    </p:embeddedFont>
    <p:embeddedFont>
      <p:font typeface="Quattrocento Sans" panose="020B0502050000020003" pitchFamily="34" charset="0"/>
      <p:regular r:id="rId21"/>
    </p:embeddedFont>
    <p:embeddedFont>
      <p:font typeface="Sorts Mill Goudy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107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648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aa41af8f93f5a8da434ee8e00468d29b4515502a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60" r="16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5763" y="1664494"/>
            <a:ext cx="1323975" cy="390525"/>
          </a:xfrm>
          <a:custGeom>
            <a:avLst/>
            <a:gdLst/>
            <a:ahLst/>
            <a:cxnLst/>
            <a:rect l="l" t="t" r="r" b="b"/>
            <a:pathLst>
              <a:path w="1323975" h="390525">
                <a:moveTo>
                  <a:pt x="195263" y="0"/>
                </a:moveTo>
                <a:lnTo>
                  <a:pt x="1128713" y="0"/>
                </a:lnTo>
                <a:cubicBezTo>
                  <a:pt x="1236481" y="0"/>
                  <a:pt x="1323975" y="87494"/>
                  <a:pt x="1323975" y="195263"/>
                </a:cubicBezTo>
                <a:lnTo>
                  <a:pt x="1323975" y="195263"/>
                </a:lnTo>
                <a:cubicBezTo>
                  <a:pt x="1323975" y="303031"/>
                  <a:pt x="1236481" y="390525"/>
                  <a:pt x="1128713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 w="12700">
            <a:solidFill>
              <a:srgbClr val="C9A87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2925" y="1793081"/>
            <a:ext cx="10773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 Analysis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593181"/>
            <a:ext cx="50006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000" b="1" kern="0" spc="-225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ARRIVAL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888581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1000" y="4231481"/>
            <a:ext cx="60579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8D99A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 Natural Language Processing Perspective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888706"/>
            <a:ext cx="62579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D99AE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Exploring the Complexities of Human and Extraterrestrial Communication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562100"/>
            <a:ext cx="5581650" cy="1485900"/>
          </a:xfrm>
          <a:custGeom>
            <a:avLst/>
            <a:gdLst/>
            <a:ahLst/>
            <a:cxnLst/>
            <a:rect l="l" t="t" r="r" b="b"/>
            <a:pathLst>
              <a:path w="5581650" h="14859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1409703"/>
                </a:lnTo>
                <a:cubicBezTo>
                  <a:pt x="5581650" y="1451785"/>
                  <a:pt x="5547535" y="1485900"/>
                  <a:pt x="5505453" y="1485900"/>
                </a:cubicBez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50" y="1562100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7700" y="2038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0550" y="20383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990725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Communication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1725"/>
            <a:ext cx="3162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shared context and non-linear structure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29350" y="1562100"/>
            <a:ext cx="5581650" cy="1485900"/>
          </a:xfrm>
          <a:custGeom>
            <a:avLst/>
            <a:gdLst/>
            <a:ahLst/>
            <a:cxnLst/>
            <a:rect l="l" t="t" r="r" b="b"/>
            <a:pathLst>
              <a:path w="5581650" h="14859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1409703"/>
                </a:lnTo>
                <a:cubicBezTo>
                  <a:pt x="5581650" y="1451785"/>
                  <a:pt x="5547535" y="1485900"/>
                  <a:pt x="5505453" y="1485900"/>
                </a:cubicBez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29350" y="1562100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77000" y="2038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19850" y="20383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00900" y="1990725"/>
            <a:ext cx="3676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Challenges Depicted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00900" y="2371725"/>
            <a:ext cx="3638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Ambiguity, cultural context, pragmatics, multimodality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276600"/>
            <a:ext cx="5581650" cy="1485900"/>
          </a:xfrm>
          <a:custGeom>
            <a:avLst/>
            <a:gdLst/>
            <a:ahLst/>
            <a:cxnLst/>
            <a:rect l="l" t="t" r="r" b="b"/>
            <a:pathLst>
              <a:path w="5581650" h="14859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1409703"/>
                </a:lnTo>
                <a:cubicBezTo>
                  <a:pt x="5581650" y="1451785"/>
                  <a:pt x="5547535" y="1485900"/>
                  <a:pt x="5505453" y="1485900"/>
                </a:cubicBez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00050" y="3276600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7700" y="3752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0550" y="37528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705225"/>
            <a:ext cx="3295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Methods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086225"/>
            <a:ext cx="3257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Grounding, pattern analysis, deep understanding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9350" y="3276600"/>
            <a:ext cx="5581650" cy="1485900"/>
          </a:xfrm>
          <a:custGeom>
            <a:avLst/>
            <a:gdLst/>
            <a:ahLst/>
            <a:cxnLst/>
            <a:rect l="l" t="t" r="r" b="b"/>
            <a:pathLst>
              <a:path w="5581650" h="1485900">
                <a:moveTo>
                  <a:pt x="38100" y="0"/>
                </a:moveTo>
                <a:lnTo>
                  <a:pt x="5505453" y="0"/>
                </a:lnTo>
                <a:cubicBezTo>
                  <a:pt x="5547535" y="0"/>
                  <a:pt x="5581650" y="34115"/>
                  <a:pt x="5581650" y="76197"/>
                </a:cubicBezTo>
                <a:lnTo>
                  <a:pt x="5581650" y="1409703"/>
                </a:lnTo>
                <a:cubicBezTo>
                  <a:pt x="5581650" y="1451785"/>
                  <a:pt x="5547535" y="1485900"/>
                  <a:pt x="5505453" y="1485900"/>
                </a:cubicBez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29350" y="3276600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77000" y="3752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19850" y="37528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00900" y="3705225"/>
            <a:ext cx="3095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Tools &amp; Technologies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00900" y="4086225"/>
            <a:ext cx="3057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approaches to the "Arrival" challenge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4991100"/>
            <a:ext cx="11410950" cy="1485900"/>
          </a:xfrm>
          <a:custGeom>
            <a:avLst/>
            <a:gdLst/>
            <a:ahLst/>
            <a:cxnLst/>
            <a:rect l="l" t="t" r="r" b="b"/>
            <a:pathLst>
              <a:path w="11410950" h="1485900">
                <a:moveTo>
                  <a:pt x="38100" y="0"/>
                </a:moveTo>
                <a:lnTo>
                  <a:pt x="11334753" y="0"/>
                </a:lnTo>
                <a:cubicBezTo>
                  <a:pt x="11376835" y="0"/>
                  <a:pt x="11410950" y="34115"/>
                  <a:pt x="11410950" y="76197"/>
                </a:cubicBezTo>
                <a:lnTo>
                  <a:pt x="11410950" y="1409703"/>
                </a:lnTo>
                <a:cubicBezTo>
                  <a:pt x="11410950" y="1451785"/>
                  <a:pt x="11376835" y="1485900"/>
                  <a:pt x="11334753" y="1485900"/>
                </a:cubicBez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00050" y="4991100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7700" y="54673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0550" y="54673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71600" y="5419725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Reflections &amp; Future Implications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5800725"/>
            <a:ext cx="4533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the film gets right, its limitations, and lessons for NLP research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Film 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Communication Challenge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Arrival (2016) follows Dr. Louise Banks, a linguist tasked with deciphering Heptapod language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43063"/>
            <a:ext cx="5610225" cy="3876675"/>
          </a:xfrm>
          <a:custGeom>
            <a:avLst/>
            <a:gdLst/>
            <a:ahLst/>
            <a:cxnLst/>
            <a:rect l="l" t="t" r="r" b="b"/>
            <a:pathLst>
              <a:path w="5610225" h="3876675">
                <a:moveTo>
                  <a:pt x="76215" y="0"/>
                </a:moveTo>
                <a:lnTo>
                  <a:pt x="5534010" y="0"/>
                </a:lnTo>
                <a:cubicBezTo>
                  <a:pt x="5576102" y="0"/>
                  <a:pt x="5610225" y="34123"/>
                  <a:pt x="5610225" y="76215"/>
                </a:cubicBezTo>
                <a:lnTo>
                  <a:pt x="5610225" y="3800460"/>
                </a:lnTo>
                <a:cubicBezTo>
                  <a:pt x="5610225" y="3842552"/>
                  <a:pt x="5576102" y="3876675"/>
                  <a:pt x="5534010" y="3876675"/>
                </a:cubicBezTo>
                <a:lnTo>
                  <a:pt x="76215" y="3876675"/>
                </a:lnTo>
                <a:cubicBezTo>
                  <a:pt x="34123" y="3876675"/>
                  <a:pt x="0" y="3842552"/>
                  <a:pt x="0" y="3800460"/>
                </a:cubicBezTo>
                <a:lnTo>
                  <a:pt x="0" y="76215"/>
                </a:lnTo>
                <a:cubicBezTo>
                  <a:pt x="0" y="34151"/>
                  <a:pt x="34151" y="0"/>
                  <a:pt x="7621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81025" y="1838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4375" y="1971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6624" y="153479"/>
                </a:moveTo>
                <a:lnTo>
                  <a:pt x="37021" y="53876"/>
                </a:lnTo>
                <a:cubicBezTo>
                  <a:pt x="28687" y="65559"/>
                  <a:pt x="23812" y="79846"/>
                  <a:pt x="23812" y="95250"/>
                </a:cubicBezTo>
                <a:cubicBezTo>
                  <a:pt x="23812" y="134689"/>
                  <a:pt x="55811" y="166688"/>
                  <a:pt x="95250" y="166688"/>
                </a:cubicBezTo>
                <a:cubicBezTo>
                  <a:pt x="110691" y="166688"/>
                  <a:pt x="124978" y="161813"/>
                  <a:pt x="136624" y="153479"/>
                </a:cubicBezTo>
                <a:close/>
                <a:moveTo>
                  <a:pt x="153479" y="136624"/>
                </a:moveTo>
                <a:cubicBezTo>
                  <a:pt x="161813" y="124941"/>
                  <a:pt x="166688" y="110654"/>
                  <a:pt x="166688" y="95250"/>
                </a:cubicBezTo>
                <a:cubicBezTo>
                  <a:pt x="166688" y="55811"/>
                  <a:pt x="134689" y="23812"/>
                  <a:pt x="95250" y="23812"/>
                </a:cubicBezTo>
                <a:cubicBezTo>
                  <a:pt x="79809" y="23812"/>
                  <a:pt x="65522" y="28687"/>
                  <a:pt x="53876" y="37021"/>
                </a:cubicBezTo>
                <a:lnTo>
                  <a:pt x="153479" y="136624"/>
                </a:ln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52525" y="1914525"/>
            <a:ext cx="2181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Shared Context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1025" y="25241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1525" y="2447925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common vocabulary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Complete absence of shared linguistic foundation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025" y="28670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1525" y="2790825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shared cultural references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Fundamentally different life experiences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1025" y="3209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1525" y="3133725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biology and perception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Alien sensory and cognitive systems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1025" y="35528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1525" y="3476625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Unknown communication modality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Unclear how information is encoded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1025" y="4786313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  <a:lnTo>
                  <a:pt x="5219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1025" y="4943475"/>
            <a:ext cx="5286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 Parallel:</a:t>
            </a: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Processing text from entirely new domains with no training data, specialized terminology, or context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6013" y="1643063"/>
            <a:ext cx="5610225" cy="3876675"/>
          </a:xfrm>
          <a:custGeom>
            <a:avLst/>
            <a:gdLst/>
            <a:ahLst/>
            <a:cxnLst/>
            <a:rect l="l" t="t" r="r" b="b"/>
            <a:pathLst>
              <a:path w="5610225" h="3876675">
                <a:moveTo>
                  <a:pt x="76215" y="0"/>
                </a:moveTo>
                <a:lnTo>
                  <a:pt x="5534010" y="0"/>
                </a:lnTo>
                <a:cubicBezTo>
                  <a:pt x="5576102" y="0"/>
                  <a:pt x="5610225" y="34123"/>
                  <a:pt x="5610225" y="76215"/>
                </a:cubicBezTo>
                <a:lnTo>
                  <a:pt x="5610225" y="3800460"/>
                </a:lnTo>
                <a:cubicBezTo>
                  <a:pt x="5610225" y="3842552"/>
                  <a:pt x="5576102" y="3876675"/>
                  <a:pt x="5534010" y="3876675"/>
                </a:cubicBezTo>
                <a:lnTo>
                  <a:pt x="76215" y="3876675"/>
                </a:lnTo>
                <a:cubicBezTo>
                  <a:pt x="34123" y="3876675"/>
                  <a:pt x="0" y="3842552"/>
                  <a:pt x="0" y="3800460"/>
                </a:cubicBezTo>
                <a:lnTo>
                  <a:pt x="0" y="76215"/>
                </a:lnTo>
                <a:cubicBezTo>
                  <a:pt x="0" y="34151"/>
                  <a:pt x="34151" y="0"/>
                  <a:pt x="7621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91275" y="18383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24625" y="1971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2860" y="11943"/>
                </a:moveTo>
                <a:cubicBezTo>
                  <a:pt x="84720" y="18231"/>
                  <a:pt x="81149" y="24892"/>
                  <a:pt x="74861" y="26752"/>
                </a:cubicBezTo>
                <a:cubicBezTo>
                  <a:pt x="45355" y="35533"/>
                  <a:pt x="23850" y="62880"/>
                  <a:pt x="23850" y="95250"/>
                </a:cubicBezTo>
                <a:cubicBezTo>
                  <a:pt x="23850" y="134689"/>
                  <a:pt x="55848" y="166688"/>
                  <a:pt x="95287" y="166688"/>
                </a:cubicBezTo>
                <a:cubicBezTo>
                  <a:pt x="134727" y="166688"/>
                  <a:pt x="166725" y="134689"/>
                  <a:pt x="166725" y="95250"/>
                </a:cubicBezTo>
                <a:cubicBezTo>
                  <a:pt x="166725" y="62917"/>
                  <a:pt x="145219" y="35570"/>
                  <a:pt x="115714" y="26752"/>
                </a:cubicBezTo>
                <a:cubicBezTo>
                  <a:pt x="109426" y="24892"/>
                  <a:pt x="105817" y="18231"/>
                  <a:pt x="107714" y="11943"/>
                </a:cubicBezTo>
                <a:cubicBezTo>
                  <a:pt x="109612" y="5655"/>
                  <a:pt x="116235" y="2046"/>
                  <a:pt x="122523" y="3944"/>
                </a:cubicBezTo>
                <a:cubicBezTo>
                  <a:pt x="161813" y="15664"/>
                  <a:pt x="190500" y="52090"/>
                  <a:pt x="190500" y="95250"/>
                </a:cubicBezTo>
                <a:cubicBezTo>
                  <a:pt x="190500" y="147861"/>
                  <a:pt x="147861" y="190500"/>
                  <a:pt x="95250" y="190500"/>
                </a:cubicBezTo>
                <a:cubicBezTo>
                  <a:pt x="42639" y="190500"/>
                  <a:pt x="0" y="147861"/>
                  <a:pt x="0" y="95250"/>
                </a:cubicBezTo>
                <a:cubicBezTo>
                  <a:pt x="0" y="52090"/>
                  <a:pt x="28687" y="15664"/>
                  <a:pt x="68052" y="3944"/>
                </a:cubicBezTo>
                <a:cubicBezTo>
                  <a:pt x="74340" y="2084"/>
                  <a:pt x="81000" y="5655"/>
                  <a:pt x="82860" y="11943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62775" y="1914525"/>
            <a:ext cx="2238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Non-Linear Structure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91275" y="25241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1775" y="2447925"/>
            <a:ext cx="454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Circular logograms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Complete thoughts encoded in visual symbols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91275" y="28670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1775" y="2790825"/>
            <a:ext cx="496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linear temporal sequence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Unlike human language's sequential nature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91275" y="3209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1775" y="3133725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Holistic meaning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Entire concepts grasped simultaneously, not compositionally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91275" y="3781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81775" y="3705225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 modalities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Written and spoken forms are completely separate systems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91275" y="4786313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  <a:lnTo>
                  <a:pt x="5219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91275" y="4943475"/>
            <a:ext cx="5286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 Parallel:</a:t>
            </a: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Processing languages with complex syntax, context-dependent meaning, and non-compositional semantics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00050" y="5676900"/>
            <a:ext cx="11410950" cy="800100"/>
          </a:xfrm>
          <a:custGeom>
            <a:avLst/>
            <a:gdLst/>
            <a:ahLst/>
            <a:cxnLst/>
            <a:rect l="l" t="t" r="r" b="b"/>
            <a:pathLst>
              <a:path w="11410950" h="800100">
                <a:moveTo>
                  <a:pt x="0" y="0"/>
                </a:moveTo>
                <a:lnTo>
                  <a:pt x="11334748" y="0"/>
                </a:lnTo>
                <a:cubicBezTo>
                  <a:pt x="11376833" y="0"/>
                  <a:pt x="11410950" y="34117"/>
                  <a:pt x="11410950" y="76202"/>
                </a:cubicBezTo>
                <a:lnTo>
                  <a:pt x="11410950" y="723898"/>
                </a:lnTo>
                <a:cubicBezTo>
                  <a:pt x="11410950" y="765983"/>
                  <a:pt x="11376833" y="800100"/>
                  <a:pt x="11334748" y="800100"/>
                </a:cubicBez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00050" y="56769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71500" y="5829300"/>
            <a:ext cx="11163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Heptapod language reflects their non-linear perception of time, fundamentally altering Banks' cognition as she decodes it—she begins experiencing past, present, and future simultaneously.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Ambiguity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811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Word "Weapon" — A Case Study in Lexical Ambiguity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04963"/>
            <a:ext cx="5953125" cy="1876425"/>
          </a:xfrm>
          <a:custGeom>
            <a:avLst/>
            <a:gdLst/>
            <a:ahLst/>
            <a:cxnLst/>
            <a:rect l="l" t="t" r="r" b="b"/>
            <a:pathLst>
              <a:path w="5953125" h="1876425">
                <a:moveTo>
                  <a:pt x="76202" y="0"/>
                </a:moveTo>
                <a:lnTo>
                  <a:pt x="5876923" y="0"/>
                </a:lnTo>
                <a:cubicBezTo>
                  <a:pt x="5919008" y="0"/>
                  <a:pt x="5953125" y="34117"/>
                  <a:pt x="5953125" y="76202"/>
                </a:cubicBezTo>
                <a:lnTo>
                  <a:pt x="5953125" y="1800223"/>
                </a:lnTo>
                <a:cubicBezTo>
                  <a:pt x="5953125" y="1842308"/>
                  <a:pt x="5919008" y="1876425"/>
                  <a:pt x="5876923" y="1876425"/>
                </a:cubicBezTo>
                <a:lnTo>
                  <a:pt x="76202" y="1876425"/>
                </a:lnTo>
                <a:cubicBezTo>
                  <a:pt x="34117" y="1876425"/>
                  <a:pt x="0" y="1842308"/>
                  <a:pt x="0" y="18002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16744" y="18383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35719"/>
                </a:move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35719"/>
                </a:lnTo>
                <a:close/>
                <a:moveTo>
                  <a:pt x="17859" y="136922"/>
                </a:moveTo>
                <a:lnTo>
                  <a:pt x="17859" y="148828"/>
                </a:lnTo>
                <a:cubicBezTo>
                  <a:pt x="17859" y="152102"/>
                  <a:pt x="20538" y="154781"/>
                  <a:pt x="23812" y="154781"/>
                </a:cubicBezTo>
                <a:lnTo>
                  <a:pt x="35719" y="154781"/>
                </a:lnTo>
                <a:cubicBezTo>
                  <a:pt x="38993" y="154781"/>
                  <a:pt x="41672" y="152102"/>
                  <a:pt x="41672" y="148828"/>
                </a:cubicBezTo>
                <a:lnTo>
                  <a:pt x="41672" y="136922"/>
                </a:lnTo>
                <a:cubicBezTo>
                  <a:pt x="41672" y="133648"/>
                  <a:pt x="38993" y="130969"/>
                  <a:pt x="35719" y="130969"/>
                </a:cubicBezTo>
                <a:lnTo>
                  <a:pt x="23812" y="130969"/>
                </a:lnTo>
                <a:cubicBezTo>
                  <a:pt x="20538" y="130969"/>
                  <a:pt x="17859" y="133648"/>
                  <a:pt x="17859" y="136922"/>
                </a:cubicBezTo>
                <a:close/>
                <a:moveTo>
                  <a:pt x="130969" y="130969"/>
                </a:moveTo>
                <a:cubicBezTo>
                  <a:pt x="127695" y="130969"/>
                  <a:pt x="125016" y="133648"/>
                  <a:pt x="125016" y="136922"/>
                </a:cubicBezTo>
                <a:lnTo>
                  <a:pt x="125016" y="148828"/>
                </a:lnTo>
                <a:cubicBezTo>
                  <a:pt x="125016" y="152102"/>
                  <a:pt x="127695" y="154781"/>
                  <a:pt x="130969" y="154781"/>
                </a:cubicBezTo>
                <a:lnTo>
                  <a:pt x="142875" y="154781"/>
                </a:lnTo>
                <a:cubicBezTo>
                  <a:pt x="146149" y="154781"/>
                  <a:pt x="148828" y="152102"/>
                  <a:pt x="148828" y="148828"/>
                </a:cubicBezTo>
                <a:lnTo>
                  <a:pt x="148828" y="136922"/>
                </a:lnTo>
                <a:cubicBezTo>
                  <a:pt x="148828" y="133648"/>
                  <a:pt x="146149" y="130969"/>
                  <a:pt x="142875" y="130969"/>
                </a:cubicBezTo>
                <a:lnTo>
                  <a:pt x="130969" y="130969"/>
                </a:lnTo>
                <a:close/>
                <a:moveTo>
                  <a:pt x="17859" y="89297"/>
                </a:moveTo>
                <a:lnTo>
                  <a:pt x="17859" y="101203"/>
                </a:lnTo>
                <a:cubicBezTo>
                  <a:pt x="17859" y="104477"/>
                  <a:pt x="20538" y="107156"/>
                  <a:pt x="23812" y="107156"/>
                </a:cubicBezTo>
                <a:lnTo>
                  <a:pt x="35719" y="107156"/>
                </a:lnTo>
                <a:cubicBezTo>
                  <a:pt x="38993" y="107156"/>
                  <a:pt x="41672" y="104477"/>
                  <a:pt x="41672" y="101203"/>
                </a:cubicBezTo>
                <a:lnTo>
                  <a:pt x="41672" y="89297"/>
                </a:lnTo>
                <a:cubicBezTo>
                  <a:pt x="41672" y="86023"/>
                  <a:pt x="38993" y="83344"/>
                  <a:pt x="35719" y="83344"/>
                </a:cubicBezTo>
                <a:lnTo>
                  <a:pt x="23812" y="83344"/>
                </a:lnTo>
                <a:cubicBezTo>
                  <a:pt x="20538" y="83344"/>
                  <a:pt x="17859" y="86023"/>
                  <a:pt x="17859" y="89297"/>
                </a:cubicBezTo>
                <a:close/>
                <a:moveTo>
                  <a:pt x="130969" y="83344"/>
                </a:moveTo>
                <a:cubicBezTo>
                  <a:pt x="127695" y="83344"/>
                  <a:pt x="125016" y="86023"/>
                  <a:pt x="125016" y="89297"/>
                </a:cubicBezTo>
                <a:lnTo>
                  <a:pt x="125016" y="101203"/>
                </a:lnTo>
                <a:cubicBezTo>
                  <a:pt x="125016" y="104477"/>
                  <a:pt x="127695" y="107156"/>
                  <a:pt x="130969" y="107156"/>
                </a:cubicBezTo>
                <a:lnTo>
                  <a:pt x="142875" y="107156"/>
                </a:lnTo>
                <a:cubicBezTo>
                  <a:pt x="146149" y="107156"/>
                  <a:pt x="148828" y="104477"/>
                  <a:pt x="148828" y="101203"/>
                </a:cubicBezTo>
                <a:lnTo>
                  <a:pt x="148828" y="89297"/>
                </a:lnTo>
                <a:cubicBezTo>
                  <a:pt x="148828" y="86023"/>
                  <a:pt x="146149" y="83344"/>
                  <a:pt x="142875" y="83344"/>
                </a:cubicBezTo>
                <a:lnTo>
                  <a:pt x="130969" y="83344"/>
                </a:lnTo>
                <a:close/>
                <a:moveTo>
                  <a:pt x="17859" y="41672"/>
                </a:moveTo>
                <a:lnTo>
                  <a:pt x="17859" y="53578"/>
                </a:lnTo>
                <a:cubicBezTo>
                  <a:pt x="17859" y="56852"/>
                  <a:pt x="20538" y="59531"/>
                  <a:pt x="23812" y="59531"/>
                </a:cubicBezTo>
                <a:lnTo>
                  <a:pt x="35719" y="59531"/>
                </a:lnTo>
                <a:cubicBezTo>
                  <a:pt x="38993" y="59531"/>
                  <a:pt x="41672" y="56852"/>
                  <a:pt x="41672" y="53578"/>
                </a:cubicBezTo>
                <a:lnTo>
                  <a:pt x="41672" y="41672"/>
                </a:lnTo>
                <a:cubicBezTo>
                  <a:pt x="41672" y="38398"/>
                  <a:pt x="38993" y="35719"/>
                  <a:pt x="35719" y="35719"/>
                </a:cubicBezTo>
                <a:lnTo>
                  <a:pt x="23812" y="35719"/>
                </a:lnTo>
                <a:cubicBezTo>
                  <a:pt x="20538" y="35719"/>
                  <a:pt x="17859" y="38398"/>
                  <a:pt x="17859" y="41672"/>
                </a:cubicBezTo>
                <a:close/>
                <a:moveTo>
                  <a:pt x="130969" y="35719"/>
                </a:moveTo>
                <a:cubicBezTo>
                  <a:pt x="127695" y="35719"/>
                  <a:pt x="125016" y="38398"/>
                  <a:pt x="125016" y="41672"/>
                </a:cubicBezTo>
                <a:lnTo>
                  <a:pt x="125016" y="53578"/>
                </a:lnTo>
                <a:cubicBezTo>
                  <a:pt x="125016" y="56852"/>
                  <a:pt x="127695" y="59531"/>
                  <a:pt x="130969" y="59531"/>
                </a:cubicBezTo>
                <a:lnTo>
                  <a:pt x="142875" y="59531"/>
                </a:lnTo>
                <a:cubicBezTo>
                  <a:pt x="146149" y="59531"/>
                  <a:pt x="148828" y="56852"/>
                  <a:pt x="148828" y="53578"/>
                </a:cubicBezTo>
                <a:lnTo>
                  <a:pt x="148828" y="41672"/>
                </a:lnTo>
                <a:cubicBezTo>
                  <a:pt x="148828" y="38398"/>
                  <a:pt x="146149" y="35719"/>
                  <a:pt x="142875" y="35719"/>
                </a:cubicBezTo>
                <a:lnTo>
                  <a:pt x="130969" y="35719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9150" y="1800225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Scene Analysis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2181225"/>
            <a:ext cx="5638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Banks asks the Heptapods about their purpose on Earth, they respond with a logogram that translation software interprets as </a:t>
            </a:r>
            <a:r>
              <a:rPr lang="en-US" sz="1200" dirty="0">
                <a:solidFill>
                  <a:srgbClr val="C9A87C"/>
                </a:solidFill>
                <a:highlight>
                  <a:srgbClr val="C9A87C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'weapon' 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 </a:t>
            </a:r>
            <a:r>
              <a:rPr lang="en-US" sz="1200" dirty="0">
                <a:solidFill>
                  <a:srgbClr val="C9A87C"/>
                </a:solidFill>
                <a:highlight>
                  <a:srgbClr val="C9A87C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'tool.'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790825"/>
            <a:ext cx="5638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single ambiguous term triggers international panic and nearly leads to war, demonstrating how critical disambiguation is in high-stakes communication.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3643313"/>
            <a:ext cx="5953125" cy="3076575"/>
          </a:xfrm>
          <a:custGeom>
            <a:avLst/>
            <a:gdLst/>
            <a:ahLst/>
            <a:cxnLst/>
            <a:rect l="l" t="t" r="r" b="b"/>
            <a:pathLst>
              <a:path w="5953125" h="3076575">
                <a:moveTo>
                  <a:pt x="76207" y="0"/>
                </a:moveTo>
                <a:lnTo>
                  <a:pt x="5876918" y="0"/>
                </a:lnTo>
                <a:cubicBezTo>
                  <a:pt x="5919006" y="0"/>
                  <a:pt x="5953125" y="34119"/>
                  <a:pt x="5953125" y="76207"/>
                </a:cubicBezTo>
                <a:lnTo>
                  <a:pt x="5953125" y="3000368"/>
                </a:lnTo>
                <a:cubicBezTo>
                  <a:pt x="5953125" y="3042456"/>
                  <a:pt x="5919006" y="3076575"/>
                  <a:pt x="5876918" y="3076575"/>
                </a:cubicBezTo>
                <a:lnTo>
                  <a:pt x="76207" y="3076575"/>
                </a:lnTo>
                <a:cubicBezTo>
                  <a:pt x="34119" y="3076575"/>
                  <a:pt x="0" y="3042456"/>
                  <a:pt x="0" y="3000368"/>
                </a:cubicBezTo>
                <a:lnTo>
                  <a:pt x="0" y="76207"/>
                </a:lnTo>
                <a:cubicBezTo>
                  <a:pt x="0" y="34119"/>
                  <a:pt x="34119" y="0"/>
                  <a:pt x="7620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4838" y="3876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9150" y="3838575"/>
            <a:ext cx="541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Interpretations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1025" y="42195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2925" y="42195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0125" y="4219575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Weapon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0125" y="4448175"/>
            <a:ext cx="2867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instrument of violence — threat interpretation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1025" y="47529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2925" y="47529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0125" y="4752975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Tool/Instrument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0125" y="4981575"/>
            <a:ext cx="3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means to accomplish something — neutral interpretation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1025" y="52863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2925" y="528637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0125" y="5286375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Gift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0125" y="5514975"/>
            <a:ext cx="3771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Something offered to help humanity — benevolent interpretation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38020" y="1604963"/>
            <a:ext cx="5267325" cy="5114925"/>
          </a:xfrm>
          <a:custGeom>
            <a:avLst/>
            <a:gdLst/>
            <a:ahLst/>
            <a:cxnLst/>
            <a:rect l="l" t="t" r="r" b="b"/>
            <a:pathLst>
              <a:path w="5267325" h="5114925">
                <a:moveTo>
                  <a:pt x="76212" y="0"/>
                </a:moveTo>
                <a:lnTo>
                  <a:pt x="5191113" y="0"/>
                </a:lnTo>
                <a:cubicBezTo>
                  <a:pt x="5233204" y="0"/>
                  <a:pt x="5267325" y="34121"/>
                  <a:pt x="5267325" y="76212"/>
                </a:cubicBezTo>
                <a:lnTo>
                  <a:pt x="5267325" y="5038713"/>
                </a:lnTo>
                <a:cubicBezTo>
                  <a:pt x="5267325" y="5080804"/>
                  <a:pt x="5233204" y="5114925"/>
                  <a:pt x="5191113" y="5114925"/>
                </a:cubicBezTo>
                <a:lnTo>
                  <a:pt x="76212" y="5114925"/>
                </a:lnTo>
                <a:cubicBezTo>
                  <a:pt x="34121" y="5114925"/>
                  <a:pt x="0" y="5080804"/>
                  <a:pt x="0" y="5038713"/>
                </a:cubicBezTo>
                <a:lnTo>
                  <a:pt x="0" y="76212"/>
                </a:lnTo>
                <a:cubicBezTo>
                  <a:pt x="0" y="34150"/>
                  <a:pt x="34150" y="0"/>
                  <a:pt x="7621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33282" y="18383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71407" y="1800225"/>
            <a:ext cx="4733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NLP Parallel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52332" y="2219325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23782" y="2219325"/>
            <a:ext cx="477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Lexical Ambiguity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23782" y="2562225"/>
            <a:ext cx="4762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Words with multiple meanings that can only be resolved through context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923782" y="3133725"/>
            <a:ext cx="4686300" cy="419100"/>
          </a:xfrm>
          <a:custGeom>
            <a:avLst/>
            <a:gdLst/>
            <a:ahLst/>
            <a:cxnLst/>
            <a:rect l="l" t="t" r="r" b="b"/>
            <a:pathLst>
              <a:path w="4686300" h="419100">
                <a:moveTo>
                  <a:pt x="38100" y="0"/>
                </a:moveTo>
                <a:lnTo>
                  <a:pt x="4648200" y="0"/>
                </a:lnTo>
                <a:cubicBezTo>
                  <a:pt x="4669242" y="0"/>
                  <a:pt x="4686300" y="17058"/>
                  <a:pt x="4686300" y="38100"/>
                </a:cubicBezTo>
                <a:lnTo>
                  <a:pt x="4686300" y="381000"/>
                </a:lnTo>
                <a:cubicBezTo>
                  <a:pt x="4686300" y="402042"/>
                  <a:pt x="4669242" y="419100"/>
                  <a:pt x="46482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38082" y="3248025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"bank" as financial institution vs. riverbank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752332" y="3705225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23782" y="3705225"/>
            <a:ext cx="477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Syntactic Ambiguity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23782" y="4048125"/>
            <a:ext cx="4762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Structural parsing issues where sentence structure creates multiple interpretations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23782" y="4619625"/>
            <a:ext cx="4686300" cy="419100"/>
          </a:xfrm>
          <a:custGeom>
            <a:avLst/>
            <a:gdLst/>
            <a:ahLst/>
            <a:cxnLst/>
            <a:rect l="l" t="t" r="r" b="b"/>
            <a:pathLst>
              <a:path w="4686300" h="419100">
                <a:moveTo>
                  <a:pt x="38100" y="0"/>
                </a:moveTo>
                <a:lnTo>
                  <a:pt x="4648200" y="0"/>
                </a:lnTo>
                <a:cubicBezTo>
                  <a:pt x="4669242" y="0"/>
                  <a:pt x="4686300" y="17058"/>
                  <a:pt x="4686300" y="38100"/>
                </a:cubicBezTo>
                <a:lnTo>
                  <a:pt x="4686300" y="381000"/>
                </a:lnTo>
                <a:cubicBezTo>
                  <a:pt x="4686300" y="402042"/>
                  <a:pt x="4669242" y="419100"/>
                  <a:pt x="46482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38082" y="4733925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"I saw the man with the telescope" — who has the telescope?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752332" y="5191125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23782" y="5191125"/>
            <a:ext cx="477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Ambiguity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23782" y="5534025"/>
            <a:ext cx="4762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Context-dependent interpretation requiring world knowledge and pragmatics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923782" y="6105525"/>
            <a:ext cx="4686300" cy="419100"/>
          </a:xfrm>
          <a:custGeom>
            <a:avLst/>
            <a:gdLst/>
            <a:ahLst/>
            <a:cxnLst/>
            <a:rect l="l" t="t" r="r" b="b"/>
            <a:pathLst>
              <a:path w="4686300" h="419100">
                <a:moveTo>
                  <a:pt x="38100" y="0"/>
                </a:moveTo>
                <a:lnTo>
                  <a:pt x="4648200" y="0"/>
                </a:lnTo>
                <a:cubicBezTo>
                  <a:pt x="4669242" y="0"/>
                  <a:pt x="4686300" y="17058"/>
                  <a:pt x="4686300" y="38100"/>
                </a:cubicBezTo>
                <a:lnTo>
                  <a:pt x="4686300" y="381000"/>
                </a:lnTo>
                <a:cubicBezTo>
                  <a:pt x="4686300" y="402042"/>
                  <a:pt x="4669242" y="419100"/>
                  <a:pt x="46482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038082" y="6219825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"The chicken is ready to eat" — cooking or consumption?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Idiomatic &amp; Cultural Context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811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Human Assumptions Fail in Cross-Species Communication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04963"/>
            <a:ext cx="5610225" cy="2581275"/>
          </a:xfrm>
          <a:custGeom>
            <a:avLst/>
            <a:gdLst/>
            <a:ahLst/>
            <a:cxnLst/>
            <a:rect l="l" t="t" r="r" b="b"/>
            <a:pathLst>
              <a:path w="5610225" h="2581275">
                <a:moveTo>
                  <a:pt x="76199" y="0"/>
                </a:moveTo>
                <a:lnTo>
                  <a:pt x="5534026" y="0"/>
                </a:lnTo>
                <a:cubicBezTo>
                  <a:pt x="5576109" y="0"/>
                  <a:pt x="5610225" y="34116"/>
                  <a:pt x="5610225" y="76199"/>
                </a:cubicBezTo>
                <a:lnTo>
                  <a:pt x="5610225" y="2505076"/>
                </a:lnTo>
                <a:cubicBezTo>
                  <a:pt x="5610225" y="2547159"/>
                  <a:pt x="5576109" y="2581275"/>
                  <a:pt x="5534026" y="2581275"/>
                </a:cubicBezTo>
                <a:lnTo>
                  <a:pt x="76199" y="2581275"/>
                </a:lnTo>
                <a:cubicBezTo>
                  <a:pt x="34116" y="2581275"/>
                  <a:pt x="0" y="2547159"/>
                  <a:pt x="0" y="2505076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2931" y="18383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9150" y="18002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 Contact Attempts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2181225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in the film, the military attempts direct questions like </a:t>
            </a:r>
            <a:r>
              <a:rPr lang="en-US" sz="1200" dirty="0">
                <a:solidFill>
                  <a:srgbClr val="C9A87C"/>
                </a:solidFill>
                <a:highlight>
                  <a:srgbClr val="C9A87C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"What is your purpose on Earth?"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790825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questions fail because they assume shared cultural concepts like: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0075" y="3190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7725" y="3152775"/>
            <a:ext cx="299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'Purpose' — assumes goal-directed behavior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0075" y="34956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7725" y="3457575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'Earth' — assumes planetary identity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0075" y="38004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7725" y="3762375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causality — assumes temporal sequence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4348163"/>
            <a:ext cx="5610225" cy="2219325"/>
          </a:xfrm>
          <a:custGeom>
            <a:avLst/>
            <a:gdLst/>
            <a:ahLst/>
            <a:cxnLst/>
            <a:rect l="l" t="t" r="r" b="b"/>
            <a:pathLst>
              <a:path w="5610225" h="2219325">
                <a:moveTo>
                  <a:pt x="76189" y="0"/>
                </a:moveTo>
                <a:lnTo>
                  <a:pt x="5534036" y="0"/>
                </a:lnTo>
                <a:cubicBezTo>
                  <a:pt x="5576086" y="0"/>
                  <a:pt x="5610225" y="34139"/>
                  <a:pt x="5610225" y="76189"/>
                </a:cubicBezTo>
                <a:lnTo>
                  <a:pt x="5610225" y="2143136"/>
                </a:lnTo>
                <a:cubicBezTo>
                  <a:pt x="5610225" y="2185214"/>
                  <a:pt x="5576114" y="2219325"/>
                  <a:pt x="5534036" y="2219325"/>
                </a:cubicBezTo>
                <a:lnTo>
                  <a:pt x="76189" y="2219325"/>
                </a:lnTo>
                <a:cubicBezTo>
                  <a:pt x="34139" y="2219325"/>
                  <a:pt x="0" y="2185186"/>
                  <a:pt x="0" y="2143136"/>
                </a:cubicBezTo>
                <a:lnTo>
                  <a:pt x="0" y="76189"/>
                </a:lnTo>
                <a:cubicBezTo>
                  <a:pt x="0" y="34111"/>
                  <a:pt x="34111" y="0"/>
                  <a:pt x="7618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8650" y="45815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9150" y="45434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Banks' Realization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1025" y="4924425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Banks recognizes that even simple human greetings carry cultural baggage. She starts with fundamental concepts: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0075" y="55721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7725" y="5534025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her own name to establish individual identity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0075" y="58769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7725" y="5838825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 gestures to create common reference points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0075" y="6181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47725" y="6143625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Concrete objects rather than abstract concepts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6013" y="1604963"/>
            <a:ext cx="5610225" cy="2724150"/>
          </a:xfrm>
          <a:custGeom>
            <a:avLst/>
            <a:gdLst/>
            <a:ahLst/>
            <a:cxnLst/>
            <a:rect l="l" t="t" r="r" b="b"/>
            <a:pathLst>
              <a:path w="5610225" h="2724150">
                <a:moveTo>
                  <a:pt x="76194" y="0"/>
                </a:moveTo>
                <a:lnTo>
                  <a:pt x="5534031" y="0"/>
                </a:lnTo>
                <a:cubicBezTo>
                  <a:pt x="5576112" y="0"/>
                  <a:pt x="5610225" y="34113"/>
                  <a:pt x="5610225" y="76194"/>
                </a:cubicBezTo>
                <a:lnTo>
                  <a:pt x="5610225" y="2647956"/>
                </a:lnTo>
                <a:cubicBezTo>
                  <a:pt x="5610225" y="2690037"/>
                  <a:pt x="5576112" y="2724150"/>
                  <a:pt x="5534031" y="2724150"/>
                </a:cubicBezTo>
                <a:lnTo>
                  <a:pt x="76194" y="2724150"/>
                </a:lnTo>
                <a:cubicBezTo>
                  <a:pt x="34113" y="2724150"/>
                  <a:pt x="0" y="2690037"/>
                  <a:pt x="0" y="264795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C9A87C">
              <a:alpha val="10196"/>
            </a:srgbClr>
          </a:solidFill>
          <a:ln w="12700">
            <a:solidFill>
              <a:srgbClr val="C9A87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03181" y="18383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59531" y="0"/>
                </a:moveTo>
                <a:cubicBezTo>
                  <a:pt x="66117" y="0"/>
                  <a:pt x="71438" y="5321"/>
                  <a:pt x="71438" y="11906"/>
                </a:cubicBezTo>
                <a:lnTo>
                  <a:pt x="71438" y="23812"/>
                </a:lnTo>
                <a:lnTo>
                  <a:pt x="119063" y="23812"/>
                </a:lnTo>
                <a:cubicBezTo>
                  <a:pt x="125648" y="23812"/>
                  <a:pt x="130969" y="29133"/>
                  <a:pt x="130969" y="35719"/>
                </a:cubicBezTo>
                <a:cubicBezTo>
                  <a:pt x="130969" y="42304"/>
                  <a:pt x="125648" y="47625"/>
                  <a:pt x="119063" y="47625"/>
                </a:cubicBezTo>
                <a:lnTo>
                  <a:pt x="115491" y="47625"/>
                </a:lnTo>
                <a:lnTo>
                  <a:pt x="112365" y="56220"/>
                </a:lnTo>
                <a:cubicBezTo>
                  <a:pt x="106263" y="73037"/>
                  <a:pt x="97073" y="88404"/>
                  <a:pt x="85502" y="101612"/>
                </a:cubicBezTo>
                <a:cubicBezTo>
                  <a:pt x="90785" y="104887"/>
                  <a:pt x="96292" y="107789"/>
                  <a:pt x="102022" y="110356"/>
                </a:cubicBezTo>
                <a:lnTo>
                  <a:pt x="120774" y="118690"/>
                </a:lnTo>
                <a:lnTo>
                  <a:pt x="143917" y="66601"/>
                </a:lnTo>
                <a:cubicBezTo>
                  <a:pt x="145814" y="62285"/>
                  <a:pt x="150093" y="59531"/>
                  <a:pt x="154781" y="59531"/>
                </a:cubicBezTo>
                <a:cubicBezTo>
                  <a:pt x="159469" y="59531"/>
                  <a:pt x="163748" y="62285"/>
                  <a:pt x="165646" y="66601"/>
                </a:cubicBezTo>
                <a:lnTo>
                  <a:pt x="213271" y="173757"/>
                </a:lnTo>
                <a:cubicBezTo>
                  <a:pt x="215950" y="179784"/>
                  <a:pt x="213233" y="186817"/>
                  <a:pt x="207243" y="189458"/>
                </a:cubicBezTo>
                <a:cubicBezTo>
                  <a:pt x="201253" y="192100"/>
                  <a:pt x="194183" y="189421"/>
                  <a:pt x="191542" y="183431"/>
                </a:cubicBezTo>
                <a:lnTo>
                  <a:pt x="184100" y="166688"/>
                </a:lnTo>
                <a:lnTo>
                  <a:pt x="125499" y="166688"/>
                </a:lnTo>
                <a:lnTo>
                  <a:pt x="118058" y="183431"/>
                </a:lnTo>
                <a:cubicBezTo>
                  <a:pt x="115379" y="189458"/>
                  <a:pt x="108347" y="192137"/>
                  <a:pt x="102357" y="189458"/>
                </a:cubicBezTo>
                <a:cubicBezTo>
                  <a:pt x="96366" y="186779"/>
                  <a:pt x="93650" y="179747"/>
                  <a:pt x="96329" y="173757"/>
                </a:cubicBezTo>
                <a:lnTo>
                  <a:pt x="111137" y="140457"/>
                </a:lnTo>
                <a:lnTo>
                  <a:pt x="92385" y="132122"/>
                </a:lnTo>
                <a:cubicBezTo>
                  <a:pt x="83827" y="128327"/>
                  <a:pt x="75642" y="123788"/>
                  <a:pt x="67903" y="118579"/>
                </a:cubicBezTo>
                <a:cubicBezTo>
                  <a:pt x="59978" y="124978"/>
                  <a:pt x="51308" y="130559"/>
                  <a:pt x="42044" y="135210"/>
                </a:cubicBezTo>
                <a:lnTo>
                  <a:pt x="29133" y="141610"/>
                </a:lnTo>
                <a:cubicBezTo>
                  <a:pt x="23254" y="144549"/>
                  <a:pt x="16111" y="142168"/>
                  <a:pt x="13171" y="136289"/>
                </a:cubicBezTo>
                <a:cubicBezTo>
                  <a:pt x="10232" y="130411"/>
                  <a:pt x="12613" y="123267"/>
                  <a:pt x="18492" y="120328"/>
                </a:cubicBezTo>
                <a:lnTo>
                  <a:pt x="31328" y="113891"/>
                </a:lnTo>
                <a:cubicBezTo>
                  <a:pt x="37393" y="110840"/>
                  <a:pt x="43160" y="107305"/>
                  <a:pt x="48592" y="103361"/>
                </a:cubicBezTo>
                <a:cubicBezTo>
                  <a:pt x="43458" y="98636"/>
                  <a:pt x="38621" y="93538"/>
                  <a:pt x="34119" y="88143"/>
                </a:cubicBezTo>
                <a:lnTo>
                  <a:pt x="30361" y="83604"/>
                </a:lnTo>
                <a:cubicBezTo>
                  <a:pt x="26157" y="78544"/>
                  <a:pt x="26826" y="71028"/>
                  <a:pt x="31886" y="66824"/>
                </a:cubicBezTo>
                <a:cubicBezTo>
                  <a:pt x="36947" y="62619"/>
                  <a:pt x="44462" y="63289"/>
                  <a:pt x="48667" y="68349"/>
                </a:cubicBezTo>
                <a:lnTo>
                  <a:pt x="52462" y="72889"/>
                </a:lnTo>
                <a:cubicBezTo>
                  <a:pt x="56741" y="78060"/>
                  <a:pt x="61429" y="82860"/>
                  <a:pt x="66377" y="87288"/>
                </a:cubicBezTo>
                <a:cubicBezTo>
                  <a:pt x="76609" y="75977"/>
                  <a:pt x="84683" y="62694"/>
                  <a:pt x="90004" y="48071"/>
                </a:cubicBezTo>
                <a:lnTo>
                  <a:pt x="90190" y="47625"/>
                </a:lnTo>
                <a:lnTo>
                  <a:pt x="11943" y="47625"/>
                </a:lnTo>
                <a:cubicBezTo>
                  <a:pt x="5321" y="47625"/>
                  <a:pt x="0" y="42304"/>
                  <a:pt x="0" y="35719"/>
                </a:cubicBezTo>
                <a:cubicBezTo>
                  <a:pt x="0" y="29133"/>
                  <a:pt x="5321" y="23812"/>
                  <a:pt x="11906" y="23812"/>
                </a:cubicBezTo>
                <a:lnTo>
                  <a:pt x="47625" y="23812"/>
                </a:lnTo>
                <a:lnTo>
                  <a:pt x="47625" y="11906"/>
                </a:lnTo>
                <a:cubicBezTo>
                  <a:pt x="47625" y="5321"/>
                  <a:pt x="52946" y="0"/>
                  <a:pt x="59531" y="0"/>
                </a:cubicBezTo>
                <a:close/>
                <a:moveTo>
                  <a:pt x="154781" y="100757"/>
                </a:moveTo>
                <a:lnTo>
                  <a:pt x="136066" y="142875"/>
                </a:lnTo>
                <a:lnTo>
                  <a:pt x="173496" y="142875"/>
                </a:lnTo>
                <a:lnTo>
                  <a:pt x="154781" y="100757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29400" y="1800225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 Idioms That Fail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91275" y="2219325"/>
            <a:ext cx="2552700" cy="685800"/>
          </a:xfrm>
          <a:custGeom>
            <a:avLst/>
            <a:gdLst/>
            <a:ahLst/>
            <a:cxnLst/>
            <a:rect l="l" t="t" r="r" b="b"/>
            <a:pathLst>
              <a:path w="2552700" h="685800">
                <a:moveTo>
                  <a:pt x="38103" y="0"/>
                </a:moveTo>
                <a:lnTo>
                  <a:pt x="2514597" y="0"/>
                </a:lnTo>
                <a:cubicBezTo>
                  <a:pt x="2535641" y="0"/>
                  <a:pt x="2552700" y="17059"/>
                  <a:pt x="2552700" y="38103"/>
                </a:cubicBezTo>
                <a:lnTo>
                  <a:pt x="2552700" y="647697"/>
                </a:lnTo>
                <a:cubicBezTo>
                  <a:pt x="2552700" y="668741"/>
                  <a:pt x="2535641" y="685800"/>
                  <a:pt x="251459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05575" y="2333625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"Break the ice"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05575" y="2600325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Assumes social tension metaphor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58275" y="2219325"/>
            <a:ext cx="2552700" cy="685800"/>
          </a:xfrm>
          <a:custGeom>
            <a:avLst/>
            <a:gdLst/>
            <a:ahLst/>
            <a:cxnLst/>
            <a:rect l="l" t="t" r="r" b="b"/>
            <a:pathLst>
              <a:path w="2552700" h="685800">
                <a:moveTo>
                  <a:pt x="38103" y="0"/>
                </a:moveTo>
                <a:lnTo>
                  <a:pt x="2514597" y="0"/>
                </a:lnTo>
                <a:cubicBezTo>
                  <a:pt x="2535641" y="0"/>
                  <a:pt x="2552700" y="17059"/>
                  <a:pt x="2552700" y="38103"/>
                </a:cubicBezTo>
                <a:lnTo>
                  <a:pt x="2552700" y="647697"/>
                </a:lnTo>
                <a:cubicBezTo>
                  <a:pt x="2552700" y="668741"/>
                  <a:pt x="2535641" y="685800"/>
                  <a:pt x="251459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172575" y="2333625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"Time is money"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72575" y="2600325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Assumes economic value of time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91275" y="3019425"/>
            <a:ext cx="2552700" cy="685800"/>
          </a:xfrm>
          <a:custGeom>
            <a:avLst/>
            <a:gdLst/>
            <a:ahLst/>
            <a:cxnLst/>
            <a:rect l="l" t="t" r="r" b="b"/>
            <a:pathLst>
              <a:path w="2552700" h="685800">
                <a:moveTo>
                  <a:pt x="38103" y="0"/>
                </a:moveTo>
                <a:lnTo>
                  <a:pt x="2514597" y="0"/>
                </a:lnTo>
                <a:cubicBezTo>
                  <a:pt x="2535641" y="0"/>
                  <a:pt x="2552700" y="17059"/>
                  <a:pt x="2552700" y="38103"/>
                </a:cubicBezTo>
                <a:lnTo>
                  <a:pt x="2552700" y="647697"/>
                </a:lnTo>
                <a:cubicBezTo>
                  <a:pt x="2552700" y="668741"/>
                  <a:pt x="2535641" y="685800"/>
                  <a:pt x="251459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05575" y="3133725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"We come in peace"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05575" y="3400425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Assumes peace/conflict framework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58275" y="3019425"/>
            <a:ext cx="2552700" cy="685800"/>
          </a:xfrm>
          <a:custGeom>
            <a:avLst/>
            <a:gdLst/>
            <a:ahLst/>
            <a:cxnLst/>
            <a:rect l="l" t="t" r="r" b="b"/>
            <a:pathLst>
              <a:path w="2552700" h="685800">
                <a:moveTo>
                  <a:pt x="38103" y="0"/>
                </a:moveTo>
                <a:lnTo>
                  <a:pt x="2514597" y="0"/>
                </a:lnTo>
                <a:cubicBezTo>
                  <a:pt x="2535641" y="0"/>
                  <a:pt x="2552700" y="17059"/>
                  <a:pt x="2552700" y="38103"/>
                </a:cubicBezTo>
                <a:lnTo>
                  <a:pt x="2552700" y="647697"/>
                </a:lnTo>
                <a:cubicBezTo>
                  <a:pt x="2552700" y="668741"/>
                  <a:pt x="2535641" y="685800"/>
                  <a:pt x="251459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172575" y="3133725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"Once upon a time"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72575" y="3400425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Assumes narrative linearity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91275" y="3824288"/>
            <a:ext cx="5219700" cy="9525"/>
          </a:xfrm>
          <a:custGeom>
            <a:avLst/>
            <a:gdLst/>
            <a:ahLst/>
            <a:cxnLst/>
            <a:rect l="l" t="t" r="r" b="b"/>
            <a:pathLst>
              <a:path w="5219700" h="9525">
                <a:moveTo>
                  <a:pt x="0" y="0"/>
                </a:moveTo>
                <a:lnTo>
                  <a:pt x="5219700" y="0"/>
                </a:lnTo>
                <a:lnTo>
                  <a:pt x="5219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9A87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91275" y="3943350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thread:</a:t>
            </a: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assume linear time &amp; human cultural values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96013" y="4491038"/>
            <a:ext cx="5610225" cy="2076450"/>
          </a:xfrm>
          <a:custGeom>
            <a:avLst/>
            <a:gdLst/>
            <a:ahLst/>
            <a:cxnLst/>
            <a:rect l="l" t="t" r="r" b="b"/>
            <a:pathLst>
              <a:path w="5610225" h="2076450">
                <a:moveTo>
                  <a:pt x="76206" y="0"/>
                </a:moveTo>
                <a:lnTo>
                  <a:pt x="5534019" y="0"/>
                </a:lnTo>
                <a:cubicBezTo>
                  <a:pt x="5576078" y="0"/>
                  <a:pt x="5610225" y="34147"/>
                  <a:pt x="5610225" y="76206"/>
                </a:cubicBezTo>
                <a:lnTo>
                  <a:pt x="5610225" y="2000244"/>
                </a:lnTo>
                <a:cubicBezTo>
                  <a:pt x="5610225" y="2042332"/>
                  <a:pt x="5576107" y="2076450"/>
                  <a:pt x="5534019" y="2076450"/>
                </a:cubicBezTo>
                <a:lnTo>
                  <a:pt x="76206" y="2076450"/>
                </a:lnTo>
                <a:cubicBezTo>
                  <a:pt x="34118" y="2076450"/>
                  <a:pt x="0" y="2042332"/>
                  <a:pt x="0" y="200024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391275" y="47244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629400" y="4686300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NLP Challenges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91275" y="51435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543675" y="5067300"/>
            <a:ext cx="456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Metaphors in technical text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"cloud computing," "machine learning"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91275" y="5448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543675" y="5372100"/>
            <a:ext cx="453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Culturally-specific references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holidays, customs, historical events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91275" y="57531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543675" y="5676900"/>
            <a:ext cx="397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Humor and sarcasm detection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highly context-dependent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91275" y="6057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543675" y="5981700"/>
            <a:ext cx="398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Cross-lingual translation errors</a:t>
            </a: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idioms don't map directly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419" y="354419"/>
            <a:ext cx="11545186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kern="0" spc="98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4419" y="602512"/>
            <a:ext cx="11695814" cy="425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4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Pragmatics &amp; Intent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4419" y="1098698"/>
            <a:ext cx="1156290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Meaning Beyond Literal Interpretation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8849" y="1492988"/>
            <a:ext cx="5458047" cy="2755605"/>
          </a:xfrm>
          <a:custGeom>
            <a:avLst/>
            <a:gdLst/>
            <a:ahLst/>
            <a:cxnLst/>
            <a:rect l="l" t="t" r="r" b="b"/>
            <a:pathLst>
              <a:path w="5458047" h="2755605">
                <a:moveTo>
                  <a:pt x="70874" y="0"/>
                </a:moveTo>
                <a:lnTo>
                  <a:pt x="5387172" y="0"/>
                </a:lnTo>
                <a:cubicBezTo>
                  <a:pt x="5426315" y="0"/>
                  <a:pt x="5458047" y="31731"/>
                  <a:pt x="5458047" y="70874"/>
                </a:cubicBezTo>
                <a:lnTo>
                  <a:pt x="5458047" y="2684730"/>
                </a:lnTo>
                <a:cubicBezTo>
                  <a:pt x="5458047" y="2723873"/>
                  <a:pt x="5426315" y="2755605"/>
                  <a:pt x="5387172" y="2755605"/>
                </a:cubicBezTo>
                <a:lnTo>
                  <a:pt x="70874" y="2755605"/>
                </a:lnTo>
                <a:cubicBezTo>
                  <a:pt x="31731" y="2755605"/>
                  <a:pt x="0" y="2723873"/>
                  <a:pt x="0" y="2684730"/>
                </a:cubicBezTo>
                <a:lnTo>
                  <a:pt x="0" y="70874"/>
                </a:lnTo>
                <a:cubicBezTo>
                  <a:pt x="0" y="31758"/>
                  <a:pt x="31758" y="0"/>
                  <a:pt x="7087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2640" y="1710070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>
                <a:moveTo>
                  <a:pt x="88605" y="0"/>
                </a:moveTo>
                <a:cubicBezTo>
                  <a:pt x="93692" y="0"/>
                  <a:pt x="98365" y="2804"/>
                  <a:pt x="100788" y="7268"/>
                </a:cubicBezTo>
                <a:lnTo>
                  <a:pt x="175548" y="145713"/>
                </a:lnTo>
                <a:cubicBezTo>
                  <a:pt x="177867" y="150005"/>
                  <a:pt x="177763" y="155197"/>
                  <a:pt x="175271" y="159385"/>
                </a:cubicBezTo>
                <a:cubicBezTo>
                  <a:pt x="172779" y="163572"/>
                  <a:pt x="168245" y="166134"/>
                  <a:pt x="163365" y="166134"/>
                </a:cubicBezTo>
                <a:lnTo>
                  <a:pt x="13844" y="166134"/>
                </a:lnTo>
                <a:cubicBezTo>
                  <a:pt x="8964" y="166134"/>
                  <a:pt x="4465" y="163572"/>
                  <a:pt x="1938" y="159385"/>
                </a:cubicBezTo>
                <a:cubicBezTo>
                  <a:pt x="-588" y="155197"/>
                  <a:pt x="-658" y="150005"/>
                  <a:pt x="1661" y="145713"/>
                </a:cubicBezTo>
                <a:lnTo>
                  <a:pt x="76422" y="7268"/>
                </a:lnTo>
                <a:cubicBezTo>
                  <a:pt x="78844" y="2804"/>
                  <a:pt x="83517" y="0"/>
                  <a:pt x="88605" y="0"/>
                </a:cubicBezTo>
                <a:close/>
                <a:moveTo>
                  <a:pt x="88605" y="58147"/>
                </a:moveTo>
                <a:cubicBezTo>
                  <a:pt x="84001" y="58147"/>
                  <a:pt x="80298" y="61850"/>
                  <a:pt x="80298" y="66453"/>
                </a:cubicBezTo>
                <a:lnTo>
                  <a:pt x="80298" y="105218"/>
                </a:lnTo>
                <a:cubicBezTo>
                  <a:pt x="80298" y="109821"/>
                  <a:pt x="84001" y="113525"/>
                  <a:pt x="88605" y="113525"/>
                </a:cubicBezTo>
                <a:cubicBezTo>
                  <a:pt x="93208" y="113525"/>
                  <a:pt x="96911" y="109821"/>
                  <a:pt x="96911" y="105218"/>
                </a:cubicBezTo>
                <a:lnTo>
                  <a:pt x="96911" y="66453"/>
                </a:lnTo>
                <a:cubicBezTo>
                  <a:pt x="96911" y="61850"/>
                  <a:pt x="93208" y="58147"/>
                  <a:pt x="88605" y="58147"/>
                </a:cubicBezTo>
                <a:close/>
                <a:moveTo>
                  <a:pt x="97846" y="132907"/>
                </a:moveTo>
                <a:cubicBezTo>
                  <a:pt x="98056" y="129477"/>
                  <a:pt x="96345" y="126213"/>
                  <a:pt x="93405" y="124435"/>
                </a:cubicBezTo>
                <a:cubicBezTo>
                  <a:pt x="90464" y="122656"/>
                  <a:pt x="86780" y="122656"/>
                  <a:pt x="83839" y="124435"/>
                </a:cubicBezTo>
                <a:cubicBezTo>
                  <a:pt x="80898" y="126213"/>
                  <a:pt x="79188" y="129477"/>
                  <a:pt x="79398" y="132907"/>
                </a:cubicBezTo>
                <a:cubicBezTo>
                  <a:pt x="79188" y="136337"/>
                  <a:pt x="80898" y="139601"/>
                  <a:pt x="83839" y="141379"/>
                </a:cubicBezTo>
                <a:cubicBezTo>
                  <a:pt x="86780" y="143158"/>
                  <a:pt x="90464" y="143158"/>
                  <a:pt x="93405" y="141379"/>
                </a:cubicBezTo>
                <a:cubicBezTo>
                  <a:pt x="96345" y="139601"/>
                  <a:pt x="98056" y="136337"/>
                  <a:pt x="97846" y="132907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2000" y="1674628"/>
            <a:ext cx="4961860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Military Miscommunication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0488" y="2029047"/>
            <a:ext cx="5165651" cy="46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Throughout the film, human characters interpret Heptapod communications through their own biases and emotional states.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0488" y="2596116"/>
            <a:ext cx="5165651" cy="46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geopolitical tensions rise, military leaders interpret </a:t>
            </a:r>
            <a:r>
              <a:rPr lang="en-US" sz="1116" dirty="0">
                <a:solidFill>
                  <a:srgbClr val="C9A87C"/>
                </a:solidFill>
                <a:highlight>
                  <a:srgbClr val="C9A87C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neutral or ambiguous Heptapod messages as threats.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8209" y="3163186"/>
            <a:ext cx="5077047" cy="903767"/>
          </a:xfrm>
          <a:custGeom>
            <a:avLst/>
            <a:gdLst/>
            <a:ahLst/>
            <a:cxnLst/>
            <a:rect l="l" t="t" r="r" b="b"/>
            <a:pathLst>
              <a:path w="5077047" h="903767">
                <a:moveTo>
                  <a:pt x="35442" y="0"/>
                </a:moveTo>
                <a:lnTo>
                  <a:pt x="5041601" y="0"/>
                </a:lnTo>
                <a:cubicBezTo>
                  <a:pt x="5061177" y="0"/>
                  <a:pt x="5077047" y="15870"/>
                  <a:pt x="5077047" y="35446"/>
                </a:cubicBezTo>
                <a:lnTo>
                  <a:pt x="5077047" y="868322"/>
                </a:lnTo>
                <a:cubicBezTo>
                  <a:pt x="5077047" y="887898"/>
                  <a:pt x="5061177" y="903767"/>
                  <a:pt x="5041601" y="903767"/>
                </a:cubicBezTo>
                <a:lnTo>
                  <a:pt x="35442" y="903767"/>
                </a:lnTo>
                <a:cubicBezTo>
                  <a:pt x="15868" y="903767"/>
                  <a:pt x="0" y="887900"/>
                  <a:pt x="0" y="868326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C9A87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8209" y="3163186"/>
            <a:ext cx="35442" cy="903767"/>
          </a:xfrm>
          <a:custGeom>
            <a:avLst/>
            <a:gdLst/>
            <a:ahLst/>
            <a:cxnLst/>
            <a:rect l="l" t="t" r="r" b="b"/>
            <a:pathLst>
              <a:path w="35442" h="903767">
                <a:moveTo>
                  <a:pt x="35442" y="0"/>
                </a:moveTo>
                <a:lnTo>
                  <a:pt x="35442" y="0"/>
                </a:lnTo>
                <a:lnTo>
                  <a:pt x="35442" y="903767"/>
                </a:lnTo>
                <a:lnTo>
                  <a:pt x="35442" y="903767"/>
                </a:lnTo>
                <a:cubicBezTo>
                  <a:pt x="15868" y="903767"/>
                  <a:pt x="0" y="887900"/>
                  <a:pt x="0" y="868326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2256" y="3269512"/>
            <a:ext cx="4917558" cy="69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11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Heptapods communicate without deception or ulterior motives, but humans project intentions based on their own experiences with power dynamics and conflict.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8849" y="4399221"/>
            <a:ext cx="5458047" cy="2454349"/>
          </a:xfrm>
          <a:custGeom>
            <a:avLst/>
            <a:gdLst/>
            <a:ahLst/>
            <a:cxnLst/>
            <a:rect l="l" t="t" r="r" b="b"/>
            <a:pathLst>
              <a:path w="5458047" h="2454349">
                <a:moveTo>
                  <a:pt x="70882" y="0"/>
                </a:moveTo>
                <a:lnTo>
                  <a:pt x="5387165" y="0"/>
                </a:lnTo>
                <a:cubicBezTo>
                  <a:pt x="5426312" y="0"/>
                  <a:pt x="5458047" y="31735"/>
                  <a:pt x="5458047" y="70882"/>
                </a:cubicBezTo>
                <a:lnTo>
                  <a:pt x="5458047" y="2383467"/>
                </a:lnTo>
                <a:cubicBezTo>
                  <a:pt x="5458047" y="2422614"/>
                  <a:pt x="5426312" y="2454349"/>
                  <a:pt x="5387165" y="2454349"/>
                </a:cubicBezTo>
                <a:lnTo>
                  <a:pt x="70882" y="2454349"/>
                </a:lnTo>
                <a:cubicBezTo>
                  <a:pt x="31735" y="2454349"/>
                  <a:pt x="0" y="2422614"/>
                  <a:pt x="0" y="2383467"/>
                </a:cubicBezTo>
                <a:lnTo>
                  <a:pt x="0" y="70882"/>
                </a:lnTo>
                <a:cubicBezTo>
                  <a:pt x="0" y="31761"/>
                  <a:pt x="31761" y="0"/>
                  <a:pt x="7088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2640" y="4616302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>
                <a:moveTo>
                  <a:pt x="41533" y="19382"/>
                </a:moveTo>
                <a:cubicBezTo>
                  <a:pt x="41533" y="8687"/>
                  <a:pt x="50221" y="0"/>
                  <a:pt x="60916" y="0"/>
                </a:cubicBezTo>
                <a:lnTo>
                  <a:pt x="69222" y="0"/>
                </a:lnTo>
                <a:cubicBezTo>
                  <a:pt x="75349" y="0"/>
                  <a:pt x="80298" y="4949"/>
                  <a:pt x="80298" y="11076"/>
                </a:cubicBezTo>
                <a:lnTo>
                  <a:pt x="80298" y="166134"/>
                </a:lnTo>
                <a:cubicBezTo>
                  <a:pt x="80298" y="172260"/>
                  <a:pt x="75349" y="177209"/>
                  <a:pt x="69222" y="177209"/>
                </a:cubicBezTo>
                <a:lnTo>
                  <a:pt x="58147" y="177209"/>
                </a:lnTo>
                <a:cubicBezTo>
                  <a:pt x="47833" y="177209"/>
                  <a:pt x="39145" y="170149"/>
                  <a:pt x="36688" y="160596"/>
                </a:cubicBezTo>
                <a:cubicBezTo>
                  <a:pt x="36446" y="160596"/>
                  <a:pt x="36238" y="160596"/>
                  <a:pt x="35996" y="160596"/>
                </a:cubicBezTo>
                <a:cubicBezTo>
                  <a:pt x="20697" y="160596"/>
                  <a:pt x="8307" y="148205"/>
                  <a:pt x="8307" y="132907"/>
                </a:cubicBezTo>
                <a:cubicBezTo>
                  <a:pt x="8307" y="126677"/>
                  <a:pt x="10383" y="120932"/>
                  <a:pt x="13844" y="116294"/>
                </a:cubicBezTo>
                <a:cubicBezTo>
                  <a:pt x="7130" y="111240"/>
                  <a:pt x="2769" y="103211"/>
                  <a:pt x="2769" y="94142"/>
                </a:cubicBezTo>
                <a:cubicBezTo>
                  <a:pt x="2769" y="83448"/>
                  <a:pt x="8860" y="74137"/>
                  <a:pt x="17721" y="69534"/>
                </a:cubicBezTo>
                <a:cubicBezTo>
                  <a:pt x="15264" y="65381"/>
                  <a:pt x="13844" y="60535"/>
                  <a:pt x="13844" y="55378"/>
                </a:cubicBezTo>
                <a:cubicBezTo>
                  <a:pt x="13844" y="40080"/>
                  <a:pt x="26235" y="27689"/>
                  <a:pt x="41533" y="27689"/>
                </a:cubicBezTo>
                <a:lnTo>
                  <a:pt x="41533" y="19382"/>
                </a:lnTo>
                <a:close/>
                <a:moveTo>
                  <a:pt x="135676" y="19382"/>
                </a:moveTo>
                <a:lnTo>
                  <a:pt x="135676" y="27689"/>
                </a:lnTo>
                <a:cubicBezTo>
                  <a:pt x="150974" y="27689"/>
                  <a:pt x="163365" y="40080"/>
                  <a:pt x="163365" y="55378"/>
                </a:cubicBezTo>
                <a:cubicBezTo>
                  <a:pt x="163365" y="60570"/>
                  <a:pt x="161946" y="65415"/>
                  <a:pt x="159488" y="69534"/>
                </a:cubicBezTo>
                <a:cubicBezTo>
                  <a:pt x="168383" y="74137"/>
                  <a:pt x="174440" y="83413"/>
                  <a:pt x="174440" y="94142"/>
                </a:cubicBezTo>
                <a:cubicBezTo>
                  <a:pt x="174440" y="103211"/>
                  <a:pt x="170079" y="111240"/>
                  <a:pt x="163365" y="116294"/>
                </a:cubicBezTo>
                <a:cubicBezTo>
                  <a:pt x="166826" y="120932"/>
                  <a:pt x="168903" y="126677"/>
                  <a:pt x="168903" y="132907"/>
                </a:cubicBezTo>
                <a:cubicBezTo>
                  <a:pt x="168903" y="148205"/>
                  <a:pt x="156512" y="160596"/>
                  <a:pt x="141214" y="160596"/>
                </a:cubicBezTo>
                <a:cubicBezTo>
                  <a:pt x="140971" y="160596"/>
                  <a:pt x="140764" y="160596"/>
                  <a:pt x="140521" y="160596"/>
                </a:cubicBezTo>
                <a:cubicBezTo>
                  <a:pt x="138064" y="170149"/>
                  <a:pt x="129377" y="177209"/>
                  <a:pt x="119063" y="177209"/>
                </a:cubicBezTo>
                <a:lnTo>
                  <a:pt x="107987" y="177209"/>
                </a:lnTo>
                <a:cubicBezTo>
                  <a:pt x="101861" y="177209"/>
                  <a:pt x="96911" y="172260"/>
                  <a:pt x="96911" y="166134"/>
                </a:cubicBezTo>
                <a:lnTo>
                  <a:pt x="96911" y="11076"/>
                </a:lnTo>
                <a:cubicBezTo>
                  <a:pt x="96911" y="4949"/>
                  <a:pt x="101861" y="0"/>
                  <a:pt x="107987" y="0"/>
                </a:cubicBezTo>
                <a:lnTo>
                  <a:pt x="116294" y="0"/>
                </a:lnTo>
                <a:cubicBezTo>
                  <a:pt x="126988" y="0"/>
                  <a:pt x="135676" y="8687"/>
                  <a:pt x="135676" y="19382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2000" y="4580860"/>
            <a:ext cx="4961860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Pragmatics Challenge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0488" y="4970721"/>
            <a:ext cx="5165651" cy="46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Pragmatics is the study of how context contributes to meaning. It requires understanding: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3651" y="5573233"/>
            <a:ext cx="70884" cy="141767"/>
          </a:xfrm>
          <a:custGeom>
            <a:avLst/>
            <a:gdLst/>
            <a:ahLst/>
            <a:cxnLst/>
            <a:rect l="l" t="t" r="r" b="b"/>
            <a:pathLst>
              <a:path w="70884" h="141767">
                <a:moveTo>
                  <a:pt x="68419" y="64626"/>
                </a:moveTo>
                <a:cubicBezTo>
                  <a:pt x="71881" y="68087"/>
                  <a:pt x="71881" y="73708"/>
                  <a:pt x="68419" y="77169"/>
                </a:cubicBezTo>
                <a:lnTo>
                  <a:pt x="24117" y="121471"/>
                </a:lnTo>
                <a:cubicBezTo>
                  <a:pt x="20656" y="124933"/>
                  <a:pt x="15035" y="124933"/>
                  <a:pt x="11574" y="121471"/>
                </a:cubicBezTo>
                <a:cubicBezTo>
                  <a:pt x="8113" y="118010"/>
                  <a:pt x="8113" y="112389"/>
                  <a:pt x="11574" y="108928"/>
                </a:cubicBezTo>
                <a:lnTo>
                  <a:pt x="49619" y="70884"/>
                </a:lnTo>
                <a:lnTo>
                  <a:pt x="11602" y="32839"/>
                </a:lnTo>
                <a:cubicBezTo>
                  <a:pt x="8141" y="29378"/>
                  <a:pt x="8141" y="23757"/>
                  <a:pt x="11602" y="20296"/>
                </a:cubicBezTo>
                <a:cubicBezTo>
                  <a:pt x="15063" y="16835"/>
                  <a:pt x="20684" y="16835"/>
                  <a:pt x="24145" y="20296"/>
                </a:cubicBezTo>
                <a:lnTo>
                  <a:pt x="68447" y="64598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8581" y="5537791"/>
            <a:ext cx="190500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Speaker's intentions and goals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3651" y="5856767"/>
            <a:ext cx="70884" cy="141767"/>
          </a:xfrm>
          <a:custGeom>
            <a:avLst/>
            <a:gdLst/>
            <a:ahLst/>
            <a:cxnLst/>
            <a:rect l="l" t="t" r="r" b="b"/>
            <a:pathLst>
              <a:path w="70884" h="141767">
                <a:moveTo>
                  <a:pt x="68419" y="64626"/>
                </a:moveTo>
                <a:cubicBezTo>
                  <a:pt x="71881" y="68087"/>
                  <a:pt x="71881" y="73708"/>
                  <a:pt x="68419" y="77169"/>
                </a:cubicBezTo>
                <a:lnTo>
                  <a:pt x="24117" y="121471"/>
                </a:lnTo>
                <a:cubicBezTo>
                  <a:pt x="20656" y="124933"/>
                  <a:pt x="15035" y="124933"/>
                  <a:pt x="11574" y="121471"/>
                </a:cubicBezTo>
                <a:cubicBezTo>
                  <a:pt x="8113" y="118010"/>
                  <a:pt x="8113" y="112389"/>
                  <a:pt x="11574" y="108928"/>
                </a:cubicBezTo>
                <a:lnTo>
                  <a:pt x="49619" y="70884"/>
                </a:lnTo>
                <a:lnTo>
                  <a:pt x="11602" y="32839"/>
                </a:lnTo>
                <a:cubicBezTo>
                  <a:pt x="8141" y="29378"/>
                  <a:pt x="8141" y="23757"/>
                  <a:pt x="11602" y="20296"/>
                </a:cubicBezTo>
                <a:cubicBezTo>
                  <a:pt x="15063" y="16835"/>
                  <a:pt x="20684" y="16835"/>
                  <a:pt x="24145" y="20296"/>
                </a:cubicBezTo>
                <a:lnTo>
                  <a:pt x="68447" y="64598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8581" y="5821326"/>
            <a:ext cx="1860698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and situational context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3651" y="6140302"/>
            <a:ext cx="70884" cy="141767"/>
          </a:xfrm>
          <a:custGeom>
            <a:avLst/>
            <a:gdLst/>
            <a:ahLst/>
            <a:cxnLst/>
            <a:rect l="l" t="t" r="r" b="b"/>
            <a:pathLst>
              <a:path w="70884" h="141767">
                <a:moveTo>
                  <a:pt x="68419" y="64626"/>
                </a:moveTo>
                <a:cubicBezTo>
                  <a:pt x="71881" y="68087"/>
                  <a:pt x="71881" y="73708"/>
                  <a:pt x="68419" y="77169"/>
                </a:cubicBezTo>
                <a:lnTo>
                  <a:pt x="24117" y="121471"/>
                </a:lnTo>
                <a:cubicBezTo>
                  <a:pt x="20656" y="124933"/>
                  <a:pt x="15035" y="124933"/>
                  <a:pt x="11574" y="121471"/>
                </a:cubicBezTo>
                <a:cubicBezTo>
                  <a:pt x="8113" y="118010"/>
                  <a:pt x="8113" y="112389"/>
                  <a:pt x="11574" y="108928"/>
                </a:cubicBezTo>
                <a:lnTo>
                  <a:pt x="49619" y="70884"/>
                </a:lnTo>
                <a:lnTo>
                  <a:pt x="11602" y="32839"/>
                </a:lnTo>
                <a:cubicBezTo>
                  <a:pt x="8141" y="29378"/>
                  <a:pt x="8141" y="23757"/>
                  <a:pt x="11602" y="20296"/>
                </a:cubicBezTo>
                <a:cubicBezTo>
                  <a:pt x="15063" y="16835"/>
                  <a:pt x="20684" y="16835"/>
                  <a:pt x="24145" y="20296"/>
                </a:cubicBezTo>
                <a:lnTo>
                  <a:pt x="68447" y="64598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8581" y="6104860"/>
            <a:ext cx="197588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background knowledge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3651" y="6423837"/>
            <a:ext cx="70884" cy="141767"/>
          </a:xfrm>
          <a:custGeom>
            <a:avLst/>
            <a:gdLst/>
            <a:ahLst/>
            <a:cxnLst/>
            <a:rect l="l" t="t" r="r" b="b"/>
            <a:pathLst>
              <a:path w="70884" h="141767">
                <a:moveTo>
                  <a:pt x="68419" y="64626"/>
                </a:moveTo>
                <a:cubicBezTo>
                  <a:pt x="71881" y="68087"/>
                  <a:pt x="71881" y="73708"/>
                  <a:pt x="68419" y="77169"/>
                </a:cubicBezTo>
                <a:lnTo>
                  <a:pt x="24117" y="121471"/>
                </a:lnTo>
                <a:cubicBezTo>
                  <a:pt x="20656" y="124933"/>
                  <a:pt x="15035" y="124933"/>
                  <a:pt x="11574" y="121471"/>
                </a:cubicBezTo>
                <a:cubicBezTo>
                  <a:pt x="8113" y="118010"/>
                  <a:pt x="8113" y="112389"/>
                  <a:pt x="11574" y="108928"/>
                </a:cubicBezTo>
                <a:lnTo>
                  <a:pt x="49619" y="70884"/>
                </a:lnTo>
                <a:lnTo>
                  <a:pt x="11602" y="32839"/>
                </a:lnTo>
                <a:cubicBezTo>
                  <a:pt x="8141" y="29378"/>
                  <a:pt x="8141" y="23757"/>
                  <a:pt x="11602" y="20296"/>
                </a:cubicBezTo>
                <a:cubicBezTo>
                  <a:pt x="15063" y="16835"/>
                  <a:pt x="20684" y="16835"/>
                  <a:pt x="24145" y="20296"/>
                </a:cubicBezTo>
                <a:lnTo>
                  <a:pt x="68447" y="64598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8581" y="6388395"/>
            <a:ext cx="2020186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Cultural norms and conventions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02965" y="1492988"/>
            <a:ext cx="5830186" cy="5360581"/>
          </a:xfrm>
          <a:custGeom>
            <a:avLst/>
            <a:gdLst/>
            <a:ahLst/>
            <a:cxnLst/>
            <a:rect l="l" t="t" r="r" b="b"/>
            <a:pathLst>
              <a:path w="5830186" h="5360581">
                <a:moveTo>
                  <a:pt x="70867" y="0"/>
                </a:moveTo>
                <a:lnTo>
                  <a:pt x="5759319" y="0"/>
                </a:lnTo>
                <a:cubicBezTo>
                  <a:pt x="5798458" y="0"/>
                  <a:pt x="5830186" y="31728"/>
                  <a:pt x="5830186" y="70867"/>
                </a:cubicBezTo>
                <a:lnTo>
                  <a:pt x="5830186" y="5289715"/>
                </a:lnTo>
                <a:cubicBezTo>
                  <a:pt x="5830186" y="5328853"/>
                  <a:pt x="5798458" y="5360581"/>
                  <a:pt x="5759319" y="5360581"/>
                </a:cubicBezTo>
                <a:lnTo>
                  <a:pt x="70867" y="5360581"/>
                </a:lnTo>
                <a:cubicBezTo>
                  <a:pt x="31728" y="5360581"/>
                  <a:pt x="0" y="5328853"/>
                  <a:pt x="0" y="5289715"/>
                </a:cubicBezTo>
                <a:lnTo>
                  <a:pt x="0" y="70867"/>
                </a:lnTo>
                <a:cubicBezTo>
                  <a:pt x="0" y="31754"/>
                  <a:pt x="31754" y="0"/>
                  <a:pt x="70867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95680" y="1710070"/>
            <a:ext cx="199360" cy="177209"/>
          </a:xfrm>
          <a:custGeom>
            <a:avLst/>
            <a:gdLst/>
            <a:ahLst/>
            <a:cxnLst/>
            <a:rect l="l" t="t" r="r" b="b"/>
            <a:pathLst>
              <a:path w="199360" h="177209">
                <a:moveTo>
                  <a:pt x="132907" y="49840"/>
                </a:moveTo>
                <a:cubicBezTo>
                  <a:pt x="132907" y="83482"/>
                  <a:pt x="103141" y="110756"/>
                  <a:pt x="66453" y="110756"/>
                </a:cubicBezTo>
                <a:cubicBezTo>
                  <a:pt x="57212" y="110756"/>
                  <a:pt x="48421" y="109025"/>
                  <a:pt x="40426" y="105910"/>
                </a:cubicBezTo>
                <a:lnTo>
                  <a:pt x="12183" y="120862"/>
                </a:lnTo>
                <a:cubicBezTo>
                  <a:pt x="8964" y="122558"/>
                  <a:pt x="5019" y="121970"/>
                  <a:pt x="2423" y="119409"/>
                </a:cubicBezTo>
                <a:cubicBezTo>
                  <a:pt x="-173" y="116847"/>
                  <a:pt x="-761" y="112867"/>
                  <a:pt x="969" y="109648"/>
                </a:cubicBezTo>
                <a:lnTo>
                  <a:pt x="13291" y="86390"/>
                </a:lnTo>
                <a:cubicBezTo>
                  <a:pt x="4949" y="76214"/>
                  <a:pt x="0" y="63546"/>
                  <a:pt x="0" y="49840"/>
                </a:cubicBezTo>
                <a:cubicBezTo>
                  <a:pt x="0" y="16198"/>
                  <a:pt x="29766" y="-11076"/>
                  <a:pt x="66453" y="-11076"/>
                </a:cubicBezTo>
                <a:cubicBezTo>
                  <a:pt x="103141" y="-11076"/>
                  <a:pt x="132907" y="16198"/>
                  <a:pt x="132907" y="49840"/>
                </a:cubicBezTo>
                <a:close/>
                <a:moveTo>
                  <a:pt x="132907" y="177209"/>
                </a:moveTo>
                <a:cubicBezTo>
                  <a:pt x="100338" y="177209"/>
                  <a:pt x="73237" y="155716"/>
                  <a:pt x="67561" y="127369"/>
                </a:cubicBezTo>
                <a:cubicBezTo>
                  <a:pt x="109094" y="126850"/>
                  <a:pt x="145194" y="97292"/>
                  <a:pt x="149174" y="57212"/>
                </a:cubicBezTo>
                <a:cubicBezTo>
                  <a:pt x="178005" y="63858"/>
                  <a:pt x="199360" y="87774"/>
                  <a:pt x="199360" y="116294"/>
                </a:cubicBezTo>
                <a:cubicBezTo>
                  <a:pt x="199360" y="130000"/>
                  <a:pt x="194411" y="142667"/>
                  <a:pt x="186070" y="152843"/>
                </a:cubicBezTo>
                <a:lnTo>
                  <a:pt x="198391" y="176102"/>
                </a:lnTo>
                <a:cubicBezTo>
                  <a:pt x="200087" y="179321"/>
                  <a:pt x="199499" y="183266"/>
                  <a:pt x="196938" y="185862"/>
                </a:cubicBezTo>
                <a:cubicBezTo>
                  <a:pt x="194376" y="188458"/>
                  <a:pt x="190396" y="189046"/>
                  <a:pt x="187177" y="187316"/>
                </a:cubicBezTo>
                <a:lnTo>
                  <a:pt x="158935" y="172364"/>
                </a:lnTo>
                <a:cubicBezTo>
                  <a:pt x="150939" y="175479"/>
                  <a:pt x="142148" y="177209"/>
                  <a:pt x="132907" y="177209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6116" y="1674628"/>
            <a:ext cx="5334000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 of Pragmatic Ambiguity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84605" y="2064488"/>
            <a:ext cx="5466907" cy="1630326"/>
          </a:xfrm>
          <a:custGeom>
            <a:avLst/>
            <a:gdLst/>
            <a:ahLst/>
            <a:cxnLst/>
            <a:rect l="l" t="t" r="r" b="b"/>
            <a:pathLst>
              <a:path w="5466907" h="1630326">
                <a:moveTo>
                  <a:pt x="70887" y="0"/>
                </a:moveTo>
                <a:lnTo>
                  <a:pt x="5396020" y="0"/>
                </a:lnTo>
                <a:cubicBezTo>
                  <a:pt x="5435170" y="0"/>
                  <a:pt x="5466907" y="31737"/>
                  <a:pt x="5466907" y="70887"/>
                </a:cubicBezTo>
                <a:lnTo>
                  <a:pt x="5466907" y="1559439"/>
                </a:lnTo>
                <a:cubicBezTo>
                  <a:pt x="5466907" y="1598589"/>
                  <a:pt x="5435170" y="1630326"/>
                  <a:pt x="5396020" y="1630326"/>
                </a:cubicBezTo>
                <a:lnTo>
                  <a:pt x="70887" y="1630326"/>
                </a:lnTo>
                <a:cubicBezTo>
                  <a:pt x="31737" y="1630326"/>
                  <a:pt x="0" y="1598589"/>
                  <a:pt x="0" y="1559439"/>
                </a:cubicBezTo>
                <a:lnTo>
                  <a:pt x="0" y="70887"/>
                </a:lnTo>
                <a:cubicBezTo>
                  <a:pt x="0" y="31737"/>
                  <a:pt x="31737" y="0"/>
                  <a:pt x="70887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26372" y="2206256"/>
            <a:ext cx="5263116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"Nice weather we're having"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26372" y="2525233"/>
            <a:ext cx="212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39023" y="2525233"/>
            <a:ext cx="343786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Genuine observation:</a:t>
            </a:r>
            <a:r>
              <a:rPr lang="en-US" sz="111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Actually commenting on weather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26372" y="2808767"/>
            <a:ext cx="212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39023" y="2808767"/>
            <a:ext cx="2197395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Sarcastic:</a:t>
            </a:r>
            <a:r>
              <a:rPr lang="en-US" sz="111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Actually terrible weather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26372" y="3092302"/>
            <a:ext cx="212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39023" y="3092302"/>
            <a:ext cx="2923953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talk:</a:t>
            </a:r>
            <a:r>
              <a:rPr lang="en-US" sz="111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Social lubricant, no weather interest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26372" y="3375837"/>
            <a:ext cx="5245395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understanding context, tone, and social conventions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84605" y="3836581"/>
            <a:ext cx="5466907" cy="1346791"/>
          </a:xfrm>
          <a:custGeom>
            <a:avLst/>
            <a:gdLst/>
            <a:ahLst/>
            <a:cxnLst/>
            <a:rect l="l" t="t" r="r" b="b"/>
            <a:pathLst>
              <a:path w="5466907" h="1346791">
                <a:moveTo>
                  <a:pt x="70882" y="0"/>
                </a:moveTo>
                <a:lnTo>
                  <a:pt x="5396025" y="0"/>
                </a:lnTo>
                <a:cubicBezTo>
                  <a:pt x="5435172" y="0"/>
                  <a:pt x="5466907" y="31735"/>
                  <a:pt x="5466907" y="70882"/>
                </a:cubicBezTo>
                <a:lnTo>
                  <a:pt x="5466907" y="1275909"/>
                </a:lnTo>
                <a:cubicBezTo>
                  <a:pt x="5466907" y="1315056"/>
                  <a:pt x="5435172" y="1346791"/>
                  <a:pt x="5396025" y="1346791"/>
                </a:cubicBezTo>
                <a:lnTo>
                  <a:pt x="70882" y="1346791"/>
                </a:lnTo>
                <a:cubicBezTo>
                  <a:pt x="31735" y="1346791"/>
                  <a:pt x="0" y="1315056"/>
                  <a:pt x="0" y="1275909"/>
                </a:cubicBezTo>
                <a:lnTo>
                  <a:pt x="0" y="70882"/>
                </a:lnTo>
                <a:cubicBezTo>
                  <a:pt x="0" y="31761"/>
                  <a:pt x="31761" y="0"/>
                  <a:pt x="7088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26372" y="3978349"/>
            <a:ext cx="5263116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"Can you pass the salt?"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26372" y="4297326"/>
            <a:ext cx="212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39023" y="4297326"/>
            <a:ext cx="3030279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Literal question:</a:t>
            </a:r>
            <a:r>
              <a:rPr lang="en-US" sz="111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Asking about physical capability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26372" y="4580860"/>
            <a:ext cx="212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39023" y="4580860"/>
            <a:ext cx="3916326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Polite request:</a:t>
            </a:r>
            <a:r>
              <a:rPr lang="en-US" sz="111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Indirect speech act — actually wants salt passed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26372" y="4864395"/>
            <a:ext cx="5245395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understanding social conventions and indirect communication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02326" y="5325140"/>
            <a:ext cx="5449186" cy="1346791"/>
          </a:xfrm>
          <a:custGeom>
            <a:avLst/>
            <a:gdLst/>
            <a:ahLst/>
            <a:cxnLst/>
            <a:rect l="l" t="t" r="r" b="b"/>
            <a:pathLst>
              <a:path w="5449186" h="1346791">
                <a:moveTo>
                  <a:pt x="35442" y="0"/>
                </a:moveTo>
                <a:lnTo>
                  <a:pt x="5378304" y="0"/>
                </a:lnTo>
                <a:cubicBezTo>
                  <a:pt x="5417451" y="0"/>
                  <a:pt x="5449186" y="31735"/>
                  <a:pt x="5449186" y="70882"/>
                </a:cubicBezTo>
                <a:lnTo>
                  <a:pt x="5449186" y="1275909"/>
                </a:lnTo>
                <a:cubicBezTo>
                  <a:pt x="5449186" y="1315056"/>
                  <a:pt x="5417451" y="1346791"/>
                  <a:pt x="5378304" y="1346791"/>
                </a:cubicBezTo>
                <a:lnTo>
                  <a:pt x="35442" y="1346791"/>
                </a:lnTo>
                <a:cubicBezTo>
                  <a:pt x="15868" y="1346791"/>
                  <a:pt x="0" y="1330923"/>
                  <a:pt x="0" y="131134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C9A87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202326" y="5325140"/>
            <a:ext cx="35442" cy="1346791"/>
          </a:xfrm>
          <a:custGeom>
            <a:avLst/>
            <a:gdLst/>
            <a:ahLst/>
            <a:cxnLst/>
            <a:rect l="l" t="t" r="r" b="b"/>
            <a:pathLst>
              <a:path w="35442" h="1346791">
                <a:moveTo>
                  <a:pt x="35442" y="0"/>
                </a:moveTo>
                <a:lnTo>
                  <a:pt x="35442" y="0"/>
                </a:lnTo>
                <a:lnTo>
                  <a:pt x="35442" y="1346791"/>
                </a:lnTo>
                <a:lnTo>
                  <a:pt x="35442" y="1346791"/>
                </a:lnTo>
                <a:cubicBezTo>
                  <a:pt x="15868" y="1346791"/>
                  <a:pt x="0" y="1330923"/>
                  <a:pt x="0" y="131134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361814" y="5466907"/>
            <a:ext cx="5227674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Heptapod: "We need humanity"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61814" y="5785884"/>
            <a:ext cx="212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74465" y="5785884"/>
            <a:ext cx="3260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Threat interpretation:</a:t>
            </a:r>
            <a:r>
              <a:rPr lang="en-US" sz="111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Humans as resource to exploit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61814" y="6069419"/>
            <a:ext cx="21265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74465" y="6069419"/>
            <a:ext cx="3464442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Partnership interpretation:</a:t>
            </a:r>
            <a:r>
              <a:rPr lang="en-US" sz="111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Collaborative future together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61814" y="6352953"/>
            <a:ext cx="5209953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Interpretation depends entirely on human biases and assumptions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495" y="337495"/>
            <a:ext cx="11576072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b="1" kern="0" spc="93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7495" y="573741"/>
            <a:ext cx="11719507" cy="404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8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 Communication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7495" y="1046234"/>
            <a:ext cx="11592947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Written vs. Spoken Heptapod — Two Independent Systems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1713" y="1421697"/>
            <a:ext cx="11508573" cy="1324667"/>
          </a:xfrm>
          <a:custGeom>
            <a:avLst/>
            <a:gdLst/>
            <a:ahLst/>
            <a:cxnLst/>
            <a:rect l="l" t="t" r="r" b="b"/>
            <a:pathLst>
              <a:path w="11508573" h="1324667">
                <a:moveTo>
                  <a:pt x="67505" y="0"/>
                </a:moveTo>
                <a:lnTo>
                  <a:pt x="11441068" y="0"/>
                </a:lnTo>
                <a:cubicBezTo>
                  <a:pt x="11478350" y="0"/>
                  <a:pt x="11508573" y="30223"/>
                  <a:pt x="11508573" y="67505"/>
                </a:cubicBezTo>
                <a:lnTo>
                  <a:pt x="11508573" y="1257162"/>
                </a:lnTo>
                <a:cubicBezTo>
                  <a:pt x="11508573" y="1294444"/>
                  <a:pt x="11478350" y="1324667"/>
                  <a:pt x="11441068" y="1324667"/>
                </a:cubicBezTo>
                <a:lnTo>
                  <a:pt x="67505" y="1324667"/>
                </a:lnTo>
                <a:cubicBezTo>
                  <a:pt x="30223" y="1324667"/>
                  <a:pt x="0" y="1294444"/>
                  <a:pt x="0" y="1257162"/>
                </a:cubicBezTo>
                <a:lnTo>
                  <a:pt x="0" y="67505"/>
                </a:lnTo>
                <a:cubicBezTo>
                  <a:pt x="0" y="30248"/>
                  <a:pt x="30248" y="0"/>
                  <a:pt x="6750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4680" y="1594663"/>
            <a:ext cx="11230140" cy="4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3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film reveals that Heptapods have </a:t>
            </a:r>
            <a:r>
              <a:rPr lang="en-US" sz="1063" dirty="0">
                <a:solidFill>
                  <a:srgbClr val="C9A87C"/>
                </a:solidFill>
                <a:highlight>
                  <a:srgbClr val="C9A87C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completely independent communication systems: </a:t>
            </a:r>
            <a:r>
              <a:rPr lang="en-US" sz="1063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spoken language (Heptapod A) that is temporal and sequential, and a written language (Heptapod B) that is non-linear and holistic.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4680" y="2134655"/>
            <a:ext cx="11230140" cy="4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3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Banks discovers that mastering Heptapod B fundamentally changes cognition—the written logograms aren't transcriptions of speech; they're a separate semantic system that encodes meaning spatially rather than temporally.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1713" y="2889799"/>
            <a:ext cx="11508573" cy="2851831"/>
          </a:xfrm>
          <a:custGeom>
            <a:avLst/>
            <a:gdLst/>
            <a:ahLst/>
            <a:cxnLst/>
            <a:rect l="l" t="t" r="r" b="b"/>
            <a:pathLst>
              <a:path w="11508573" h="2851831">
                <a:moveTo>
                  <a:pt x="67503" y="0"/>
                </a:moveTo>
                <a:lnTo>
                  <a:pt x="11441070" y="0"/>
                </a:lnTo>
                <a:cubicBezTo>
                  <a:pt x="11478351" y="0"/>
                  <a:pt x="11508573" y="30222"/>
                  <a:pt x="11508573" y="67503"/>
                </a:cubicBezTo>
                <a:lnTo>
                  <a:pt x="11508573" y="2784328"/>
                </a:lnTo>
                <a:cubicBezTo>
                  <a:pt x="11508573" y="2821609"/>
                  <a:pt x="11478351" y="2851831"/>
                  <a:pt x="11441070" y="2851831"/>
                </a:cubicBezTo>
                <a:lnTo>
                  <a:pt x="67503" y="2851831"/>
                </a:lnTo>
                <a:cubicBezTo>
                  <a:pt x="30222" y="2851831"/>
                  <a:pt x="0" y="2821609"/>
                  <a:pt x="0" y="2784328"/>
                </a:cubicBezTo>
                <a:lnTo>
                  <a:pt x="0" y="67503"/>
                </a:lnTo>
                <a:cubicBezTo>
                  <a:pt x="0" y="30222"/>
                  <a:pt x="30222" y="0"/>
                  <a:pt x="6750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2648" y="3096515"/>
            <a:ext cx="177185" cy="202497"/>
          </a:xfrm>
          <a:custGeom>
            <a:avLst/>
            <a:gdLst/>
            <a:ahLst/>
            <a:cxnLst/>
            <a:rect l="l" t="t" r="r" b="b"/>
            <a:pathLst>
              <a:path w="177185" h="202497">
                <a:moveTo>
                  <a:pt x="101248" y="63280"/>
                </a:moveTo>
                <a:lnTo>
                  <a:pt x="101248" y="101248"/>
                </a:lnTo>
                <a:lnTo>
                  <a:pt x="151873" y="101248"/>
                </a:lnTo>
                <a:lnTo>
                  <a:pt x="151873" y="63280"/>
                </a:lnTo>
                <a:lnTo>
                  <a:pt x="101248" y="63280"/>
                </a:lnTo>
                <a:close/>
                <a:moveTo>
                  <a:pt x="75936" y="63280"/>
                </a:moveTo>
                <a:lnTo>
                  <a:pt x="25312" y="63280"/>
                </a:lnTo>
                <a:lnTo>
                  <a:pt x="25312" y="101248"/>
                </a:lnTo>
                <a:lnTo>
                  <a:pt x="75936" y="101248"/>
                </a:lnTo>
                <a:lnTo>
                  <a:pt x="75936" y="63280"/>
                </a:lnTo>
                <a:close/>
                <a:moveTo>
                  <a:pt x="0" y="126561"/>
                </a:moveTo>
                <a:lnTo>
                  <a:pt x="0" y="37968"/>
                </a:lnTo>
                <a:cubicBezTo>
                  <a:pt x="0" y="24007"/>
                  <a:pt x="11351" y="12656"/>
                  <a:pt x="25312" y="12656"/>
                </a:cubicBezTo>
                <a:lnTo>
                  <a:pt x="151873" y="12656"/>
                </a:lnTo>
                <a:cubicBezTo>
                  <a:pt x="165834" y="12656"/>
                  <a:pt x="177185" y="24007"/>
                  <a:pt x="177185" y="37968"/>
                </a:cubicBezTo>
                <a:lnTo>
                  <a:pt x="177185" y="164529"/>
                </a:lnTo>
                <a:cubicBezTo>
                  <a:pt x="177185" y="178490"/>
                  <a:pt x="165834" y="189841"/>
                  <a:pt x="151873" y="189841"/>
                </a:cubicBezTo>
                <a:lnTo>
                  <a:pt x="25312" y="189841"/>
                </a:lnTo>
                <a:cubicBezTo>
                  <a:pt x="11351" y="189841"/>
                  <a:pt x="0" y="178490"/>
                  <a:pt x="0" y="164529"/>
                </a:cubicBezTo>
                <a:lnTo>
                  <a:pt x="0" y="126561"/>
                </a:lnTo>
                <a:close/>
                <a:moveTo>
                  <a:pt x="151873" y="126561"/>
                </a:moveTo>
                <a:lnTo>
                  <a:pt x="101248" y="126561"/>
                </a:lnTo>
                <a:lnTo>
                  <a:pt x="101248" y="164529"/>
                </a:lnTo>
                <a:lnTo>
                  <a:pt x="151873" y="164529"/>
                </a:lnTo>
                <a:lnTo>
                  <a:pt x="151873" y="126561"/>
                </a:lnTo>
                <a:close/>
                <a:moveTo>
                  <a:pt x="75936" y="164529"/>
                </a:moveTo>
                <a:lnTo>
                  <a:pt x="75936" y="126561"/>
                </a:lnTo>
                <a:lnTo>
                  <a:pt x="25312" y="126561"/>
                </a:lnTo>
                <a:lnTo>
                  <a:pt x="25312" y="164529"/>
                </a:lnTo>
                <a:lnTo>
                  <a:pt x="75936" y="164529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7801" y="3062765"/>
            <a:ext cx="11010768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Comparison: Heptapod A vs. Heptapod B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680" y="3467759"/>
          <a:ext cx="11162641" cy="2100905"/>
        </p:xfrm>
        <a:graphic>
          <a:graphicData uri="http://schemas.openxmlformats.org/drawingml/2006/table">
            <a:tbl>
              <a:tblPr/>
              <a:tblGrid>
                <a:gridCol w="2537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1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37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181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Dimension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248" marR="10124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C9A8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7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Heptapod A (Spoken)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248" marR="10124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C9A8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7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Heptapod B (Written)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248" marR="10124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C9A8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7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181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C9A87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Structure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248" marR="10124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C9A8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Linear, temporal sequence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248" marR="10124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C9A8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Non-linear, circular logograms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248" marR="10124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C9A8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181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C9A87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Composition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248" marR="10124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Sequential sounds/phonemes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248" marR="10124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Holistic visual symbols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248" marR="10124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181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C9A87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Meaning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248" marR="10124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Compositional grammar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248" marR="10124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Gestalt — entire meaning at once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248" marR="10124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181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C9A87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Cognitive Impact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248" marR="10124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Temporal thinking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248" marR="10124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Non-linear time perception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1248" marR="101248" marT="101248" marB="10124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4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54370" y="5880847"/>
            <a:ext cx="5678350" cy="978735"/>
          </a:xfrm>
          <a:custGeom>
            <a:avLst/>
            <a:gdLst/>
            <a:ahLst/>
            <a:cxnLst/>
            <a:rect l="l" t="t" r="r" b="b"/>
            <a:pathLst>
              <a:path w="5678350" h="978735">
                <a:moveTo>
                  <a:pt x="0" y="0"/>
                </a:moveTo>
                <a:lnTo>
                  <a:pt x="5610847" y="0"/>
                </a:lnTo>
                <a:cubicBezTo>
                  <a:pt x="5648128" y="0"/>
                  <a:pt x="5678350" y="30222"/>
                  <a:pt x="5678350" y="67503"/>
                </a:cubicBezTo>
                <a:lnTo>
                  <a:pt x="5678350" y="911232"/>
                </a:lnTo>
                <a:cubicBezTo>
                  <a:pt x="5678350" y="948513"/>
                  <a:pt x="5648128" y="978735"/>
                  <a:pt x="5610847" y="978735"/>
                </a:cubicBezTo>
                <a:lnTo>
                  <a:pt x="0" y="978735"/>
                </a:lnTo>
                <a:lnTo>
                  <a:pt x="0" y="0"/>
                </a:lnTo>
                <a:close/>
              </a:path>
            </a:pathLst>
          </a:custGeom>
          <a:solidFill>
            <a:srgbClr val="C9A87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54370" y="5880847"/>
            <a:ext cx="33749" cy="978735"/>
          </a:xfrm>
          <a:custGeom>
            <a:avLst/>
            <a:gdLst/>
            <a:ahLst/>
            <a:cxnLst/>
            <a:rect l="l" t="t" r="r" b="b"/>
            <a:pathLst>
              <a:path w="33749" h="978735">
                <a:moveTo>
                  <a:pt x="0" y="0"/>
                </a:moveTo>
                <a:lnTo>
                  <a:pt x="33749" y="0"/>
                </a:lnTo>
                <a:lnTo>
                  <a:pt x="33749" y="978735"/>
                </a:lnTo>
                <a:lnTo>
                  <a:pt x="0" y="978735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6320" y="6058032"/>
            <a:ext cx="113904" cy="151873"/>
          </a:xfrm>
          <a:custGeom>
            <a:avLst/>
            <a:gdLst/>
            <a:ahLst/>
            <a:cxnLst/>
            <a:rect l="l" t="t" r="r" b="b"/>
            <a:pathLst>
              <a:path w="113904" h="151873">
                <a:moveTo>
                  <a:pt x="56952" y="0"/>
                </a:moveTo>
                <a:cubicBezTo>
                  <a:pt x="41231" y="0"/>
                  <a:pt x="28476" y="12755"/>
                  <a:pt x="28476" y="28476"/>
                </a:cubicBezTo>
                <a:lnTo>
                  <a:pt x="28476" y="66444"/>
                </a:lnTo>
                <a:cubicBezTo>
                  <a:pt x="28476" y="82165"/>
                  <a:pt x="41231" y="94920"/>
                  <a:pt x="56952" y="94920"/>
                </a:cubicBezTo>
                <a:cubicBezTo>
                  <a:pt x="72673" y="94920"/>
                  <a:pt x="85428" y="82165"/>
                  <a:pt x="85428" y="66444"/>
                </a:cubicBezTo>
                <a:lnTo>
                  <a:pt x="85428" y="28476"/>
                </a:lnTo>
                <a:cubicBezTo>
                  <a:pt x="85428" y="12755"/>
                  <a:pt x="72673" y="0"/>
                  <a:pt x="56952" y="0"/>
                </a:cubicBezTo>
                <a:close/>
                <a:moveTo>
                  <a:pt x="14238" y="54579"/>
                </a:moveTo>
                <a:cubicBezTo>
                  <a:pt x="14238" y="50634"/>
                  <a:pt x="11064" y="47460"/>
                  <a:pt x="7119" y="47460"/>
                </a:cubicBezTo>
                <a:cubicBezTo>
                  <a:pt x="3174" y="47460"/>
                  <a:pt x="0" y="50634"/>
                  <a:pt x="0" y="54579"/>
                </a:cubicBezTo>
                <a:lnTo>
                  <a:pt x="0" y="66444"/>
                </a:lnTo>
                <a:cubicBezTo>
                  <a:pt x="0" y="95484"/>
                  <a:pt x="21743" y="119451"/>
                  <a:pt x="49833" y="122952"/>
                </a:cubicBezTo>
                <a:lnTo>
                  <a:pt x="49833" y="137635"/>
                </a:lnTo>
                <a:lnTo>
                  <a:pt x="35595" y="137635"/>
                </a:lnTo>
                <a:cubicBezTo>
                  <a:pt x="31650" y="137635"/>
                  <a:pt x="28476" y="140809"/>
                  <a:pt x="28476" y="144754"/>
                </a:cubicBezTo>
                <a:cubicBezTo>
                  <a:pt x="28476" y="148699"/>
                  <a:pt x="31650" y="151873"/>
                  <a:pt x="35595" y="151873"/>
                </a:cubicBezTo>
                <a:lnTo>
                  <a:pt x="78309" y="151873"/>
                </a:lnTo>
                <a:cubicBezTo>
                  <a:pt x="82254" y="151873"/>
                  <a:pt x="85428" y="148699"/>
                  <a:pt x="85428" y="144754"/>
                </a:cubicBezTo>
                <a:cubicBezTo>
                  <a:pt x="85428" y="140809"/>
                  <a:pt x="82254" y="137635"/>
                  <a:pt x="78309" y="137635"/>
                </a:cubicBezTo>
                <a:lnTo>
                  <a:pt x="64071" y="137635"/>
                </a:lnTo>
                <a:lnTo>
                  <a:pt x="64071" y="122952"/>
                </a:lnTo>
                <a:cubicBezTo>
                  <a:pt x="92162" y="119451"/>
                  <a:pt x="113904" y="95484"/>
                  <a:pt x="113904" y="66444"/>
                </a:cubicBezTo>
                <a:lnTo>
                  <a:pt x="113904" y="54579"/>
                </a:lnTo>
                <a:cubicBezTo>
                  <a:pt x="113904" y="50634"/>
                  <a:pt x="110731" y="47460"/>
                  <a:pt x="106785" y="47460"/>
                </a:cubicBezTo>
                <a:cubicBezTo>
                  <a:pt x="102840" y="47460"/>
                  <a:pt x="99666" y="50634"/>
                  <a:pt x="99666" y="54579"/>
                </a:cubicBezTo>
                <a:lnTo>
                  <a:pt x="99666" y="66444"/>
                </a:lnTo>
                <a:cubicBezTo>
                  <a:pt x="99666" y="90026"/>
                  <a:pt x="80534" y="109158"/>
                  <a:pt x="56952" y="109158"/>
                </a:cubicBezTo>
                <a:cubicBezTo>
                  <a:pt x="33370" y="109158"/>
                  <a:pt x="14238" y="90026"/>
                  <a:pt x="14238" y="66444"/>
                </a:cubicBezTo>
                <a:lnTo>
                  <a:pt x="14238" y="54579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00302" y="6015845"/>
            <a:ext cx="5273356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Parallel: Heptapod 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6242" y="6319590"/>
            <a:ext cx="5458979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Speech recognition, phonetic analysis, sequential parsing, temporal language models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81692" y="5880847"/>
            <a:ext cx="5678350" cy="978735"/>
          </a:xfrm>
          <a:custGeom>
            <a:avLst/>
            <a:gdLst/>
            <a:ahLst/>
            <a:cxnLst/>
            <a:rect l="l" t="t" r="r" b="b"/>
            <a:pathLst>
              <a:path w="5678350" h="978735">
                <a:moveTo>
                  <a:pt x="0" y="0"/>
                </a:moveTo>
                <a:lnTo>
                  <a:pt x="5610847" y="0"/>
                </a:lnTo>
                <a:cubicBezTo>
                  <a:pt x="5648128" y="0"/>
                  <a:pt x="5678350" y="30222"/>
                  <a:pt x="5678350" y="67503"/>
                </a:cubicBezTo>
                <a:lnTo>
                  <a:pt x="5678350" y="911232"/>
                </a:lnTo>
                <a:cubicBezTo>
                  <a:pt x="5678350" y="948513"/>
                  <a:pt x="5648128" y="978735"/>
                  <a:pt x="5610847" y="978735"/>
                </a:cubicBezTo>
                <a:lnTo>
                  <a:pt x="0" y="978735"/>
                </a:lnTo>
                <a:lnTo>
                  <a:pt x="0" y="0"/>
                </a:lnTo>
                <a:close/>
              </a:path>
            </a:pathLst>
          </a:custGeom>
          <a:solidFill>
            <a:srgbClr val="C9A87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181692" y="5880847"/>
            <a:ext cx="33749" cy="978735"/>
          </a:xfrm>
          <a:custGeom>
            <a:avLst/>
            <a:gdLst/>
            <a:ahLst/>
            <a:cxnLst/>
            <a:rect l="l" t="t" r="r" b="b"/>
            <a:pathLst>
              <a:path w="33749" h="978735">
                <a:moveTo>
                  <a:pt x="0" y="0"/>
                </a:moveTo>
                <a:lnTo>
                  <a:pt x="33749" y="0"/>
                </a:lnTo>
                <a:lnTo>
                  <a:pt x="33749" y="978735"/>
                </a:lnTo>
                <a:lnTo>
                  <a:pt x="0" y="978735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345166" y="6058032"/>
            <a:ext cx="170857" cy="151873"/>
          </a:xfrm>
          <a:custGeom>
            <a:avLst/>
            <a:gdLst/>
            <a:ahLst/>
            <a:cxnLst/>
            <a:rect l="l" t="t" r="r" b="b"/>
            <a:pathLst>
              <a:path w="170857" h="151873">
                <a:moveTo>
                  <a:pt x="85428" y="9492"/>
                </a:moveTo>
                <a:cubicBezTo>
                  <a:pt x="61461" y="9492"/>
                  <a:pt x="42269" y="20408"/>
                  <a:pt x="28298" y="33400"/>
                </a:cubicBezTo>
                <a:cubicBezTo>
                  <a:pt x="14416" y="46303"/>
                  <a:pt x="5132" y="61698"/>
                  <a:pt x="712" y="72288"/>
                </a:cubicBezTo>
                <a:cubicBezTo>
                  <a:pt x="-267" y="74631"/>
                  <a:pt x="-267" y="77241"/>
                  <a:pt x="712" y="79585"/>
                </a:cubicBezTo>
                <a:cubicBezTo>
                  <a:pt x="5132" y="90174"/>
                  <a:pt x="14416" y="105599"/>
                  <a:pt x="28298" y="118473"/>
                </a:cubicBezTo>
                <a:cubicBezTo>
                  <a:pt x="42269" y="131435"/>
                  <a:pt x="61461" y="142381"/>
                  <a:pt x="85428" y="142381"/>
                </a:cubicBezTo>
                <a:cubicBezTo>
                  <a:pt x="109396" y="142381"/>
                  <a:pt x="128588" y="131465"/>
                  <a:pt x="142559" y="118473"/>
                </a:cubicBezTo>
                <a:cubicBezTo>
                  <a:pt x="156441" y="105569"/>
                  <a:pt x="165725" y="90174"/>
                  <a:pt x="170145" y="79585"/>
                </a:cubicBezTo>
                <a:cubicBezTo>
                  <a:pt x="171124" y="77241"/>
                  <a:pt x="171124" y="74631"/>
                  <a:pt x="170145" y="72288"/>
                </a:cubicBezTo>
                <a:cubicBezTo>
                  <a:pt x="165725" y="61698"/>
                  <a:pt x="156441" y="46274"/>
                  <a:pt x="142559" y="33400"/>
                </a:cubicBezTo>
                <a:cubicBezTo>
                  <a:pt x="128588" y="20438"/>
                  <a:pt x="109396" y="9492"/>
                  <a:pt x="85428" y="9492"/>
                </a:cubicBezTo>
                <a:close/>
                <a:moveTo>
                  <a:pt x="42714" y="75936"/>
                </a:moveTo>
                <a:cubicBezTo>
                  <a:pt x="42714" y="52362"/>
                  <a:pt x="61854" y="33222"/>
                  <a:pt x="85428" y="33222"/>
                </a:cubicBezTo>
                <a:cubicBezTo>
                  <a:pt x="109003" y="33222"/>
                  <a:pt x="128143" y="52362"/>
                  <a:pt x="128143" y="75936"/>
                </a:cubicBezTo>
                <a:cubicBezTo>
                  <a:pt x="128143" y="99511"/>
                  <a:pt x="109003" y="118651"/>
                  <a:pt x="85428" y="118651"/>
                </a:cubicBezTo>
                <a:cubicBezTo>
                  <a:pt x="61854" y="118651"/>
                  <a:pt x="42714" y="99511"/>
                  <a:pt x="42714" y="75936"/>
                </a:cubicBezTo>
                <a:close/>
                <a:moveTo>
                  <a:pt x="85428" y="56952"/>
                </a:moveTo>
                <a:cubicBezTo>
                  <a:pt x="85428" y="67423"/>
                  <a:pt x="76915" y="75936"/>
                  <a:pt x="66444" y="75936"/>
                </a:cubicBezTo>
                <a:cubicBezTo>
                  <a:pt x="63033" y="75936"/>
                  <a:pt x="59830" y="75046"/>
                  <a:pt x="57041" y="73445"/>
                </a:cubicBezTo>
                <a:cubicBezTo>
                  <a:pt x="56745" y="76678"/>
                  <a:pt x="57012" y="80000"/>
                  <a:pt x="57901" y="83293"/>
                </a:cubicBezTo>
                <a:cubicBezTo>
                  <a:pt x="61965" y="98480"/>
                  <a:pt x="77597" y="107497"/>
                  <a:pt x="92785" y="103434"/>
                </a:cubicBezTo>
                <a:cubicBezTo>
                  <a:pt x="107972" y="99370"/>
                  <a:pt x="116989" y="83738"/>
                  <a:pt x="112926" y="68550"/>
                </a:cubicBezTo>
                <a:cubicBezTo>
                  <a:pt x="109307" y="54995"/>
                  <a:pt x="96463" y="46363"/>
                  <a:pt x="82937" y="47549"/>
                </a:cubicBezTo>
                <a:cubicBezTo>
                  <a:pt x="84509" y="50308"/>
                  <a:pt x="85428" y="53511"/>
                  <a:pt x="85428" y="56952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27624" y="6015845"/>
            <a:ext cx="5273356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Parallel: Heptapod B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333565" y="6319590"/>
            <a:ext cx="5458979" cy="404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vision + NLP integration, spatial reasoning, visual question answering, multimodal transformers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296" y="376296"/>
            <a:ext cx="11505259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kern="0" spc="104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Banks' Approach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6296" y="639704"/>
            <a:ext cx="11665185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56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Methods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6296" y="1166519"/>
            <a:ext cx="11524074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Grounding to Deep Understanding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85148"/>
            <a:ext cx="3706519" cy="4327407"/>
          </a:xfrm>
          <a:custGeom>
            <a:avLst/>
            <a:gdLst/>
            <a:ahLst/>
            <a:cxnLst/>
            <a:rect l="l" t="t" r="r" b="b"/>
            <a:pathLst>
              <a:path w="3706519" h="4327407">
                <a:moveTo>
                  <a:pt x="75242" y="0"/>
                </a:moveTo>
                <a:lnTo>
                  <a:pt x="3631276" y="0"/>
                </a:lnTo>
                <a:cubicBezTo>
                  <a:pt x="3672831" y="0"/>
                  <a:pt x="3706519" y="33687"/>
                  <a:pt x="3706519" y="75242"/>
                </a:cubicBezTo>
                <a:lnTo>
                  <a:pt x="3706519" y="4252165"/>
                </a:lnTo>
                <a:cubicBezTo>
                  <a:pt x="3706519" y="4293720"/>
                  <a:pt x="3672831" y="4327407"/>
                  <a:pt x="3631276" y="4327407"/>
                </a:cubicBezTo>
                <a:lnTo>
                  <a:pt x="75242" y="4327407"/>
                </a:lnTo>
                <a:cubicBezTo>
                  <a:pt x="33687" y="4327407"/>
                  <a:pt x="0" y="4293720"/>
                  <a:pt x="0" y="4252165"/>
                </a:cubicBezTo>
                <a:lnTo>
                  <a:pt x="0" y="75242"/>
                </a:lnTo>
                <a:cubicBezTo>
                  <a:pt x="0" y="33687"/>
                  <a:pt x="33687" y="0"/>
                  <a:pt x="7524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6222" y="1740370"/>
            <a:ext cx="451556" cy="451556"/>
          </a:xfrm>
          <a:custGeom>
            <a:avLst/>
            <a:gdLst/>
            <a:ahLst/>
            <a:cxnLst/>
            <a:rect l="l" t="t" r="r" b="b"/>
            <a:pathLst>
              <a:path w="451556" h="451556">
                <a:moveTo>
                  <a:pt x="225778" y="0"/>
                </a:moveTo>
                <a:lnTo>
                  <a:pt x="225778" y="0"/>
                </a:lnTo>
                <a:cubicBezTo>
                  <a:pt x="350388" y="0"/>
                  <a:pt x="451556" y="101168"/>
                  <a:pt x="451556" y="225778"/>
                </a:cubicBezTo>
                <a:lnTo>
                  <a:pt x="451556" y="225778"/>
                </a:lnTo>
                <a:cubicBezTo>
                  <a:pt x="451556" y="350388"/>
                  <a:pt x="350388" y="451556"/>
                  <a:pt x="225778" y="451556"/>
                </a:cubicBezTo>
                <a:lnTo>
                  <a:pt x="225778" y="451556"/>
                </a:lnTo>
                <a:cubicBezTo>
                  <a:pt x="101168" y="451556"/>
                  <a:pt x="0" y="350388"/>
                  <a:pt x="0" y="225778"/>
                </a:cubicBezTo>
                <a:lnTo>
                  <a:pt x="0" y="225778"/>
                </a:lnTo>
                <a:cubicBezTo>
                  <a:pt x="0" y="101168"/>
                  <a:pt x="101168" y="0"/>
                  <a:pt x="225778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185" y="1740370"/>
            <a:ext cx="545630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1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00667" y="1834444"/>
            <a:ext cx="968963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Grounding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6222" y="2304815"/>
            <a:ext cx="3471333" cy="244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from First Principles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6222" y="2662296"/>
            <a:ext cx="3396074" cy="564444"/>
          </a:xfrm>
          <a:custGeom>
            <a:avLst/>
            <a:gdLst/>
            <a:ahLst/>
            <a:cxnLst/>
            <a:rect l="l" t="t" r="r" b="b"/>
            <a:pathLst>
              <a:path w="3396074" h="564444">
                <a:moveTo>
                  <a:pt x="37632" y="0"/>
                </a:moveTo>
                <a:lnTo>
                  <a:pt x="3358443" y="0"/>
                </a:lnTo>
                <a:cubicBezTo>
                  <a:pt x="3379226" y="0"/>
                  <a:pt x="3396074" y="16848"/>
                  <a:pt x="3396074" y="37632"/>
                </a:cubicBezTo>
                <a:lnTo>
                  <a:pt x="3396074" y="526813"/>
                </a:lnTo>
                <a:cubicBezTo>
                  <a:pt x="3396074" y="547596"/>
                  <a:pt x="3379226" y="564444"/>
                  <a:pt x="3358443" y="564444"/>
                </a:cubicBezTo>
                <a:lnTo>
                  <a:pt x="37632" y="564444"/>
                </a:lnTo>
                <a:cubicBezTo>
                  <a:pt x="16848" y="564444"/>
                  <a:pt x="0" y="547596"/>
                  <a:pt x="0" y="526813"/>
                </a:cubicBezTo>
                <a:lnTo>
                  <a:pt x="0" y="37632"/>
                </a:lnTo>
                <a:cubicBezTo>
                  <a:pt x="0" y="16848"/>
                  <a:pt x="16848" y="0"/>
                  <a:pt x="3763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1481" y="2737556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Self-Reference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1481" y="2963333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Writes "Louise" while pointing to herself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6222" y="3302000"/>
            <a:ext cx="3396074" cy="564444"/>
          </a:xfrm>
          <a:custGeom>
            <a:avLst/>
            <a:gdLst/>
            <a:ahLst/>
            <a:cxnLst/>
            <a:rect l="l" t="t" r="r" b="b"/>
            <a:pathLst>
              <a:path w="3396074" h="564444">
                <a:moveTo>
                  <a:pt x="37632" y="0"/>
                </a:moveTo>
                <a:lnTo>
                  <a:pt x="3358443" y="0"/>
                </a:lnTo>
                <a:cubicBezTo>
                  <a:pt x="3379226" y="0"/>
                  <a:pt x="3396074" y="16848"/>
                  <a:pt x="3396074" y="37632"/>
                </a:cubicBezTo>
                <a:lnTo>
                  <a:pt x="3396074" y="526813"/>
                </a:lnTo>
                <a:cubicBezTo>
                  <a:pt x="3396074" y="547596"/>
                  <a:pt x="3379226" y="564444"/>
                  <a:pt x="3358443" y="564444"/>
                </a:cubicBezTo>
                <a:lnTo>
                  <a:pt x="37632" y="564444"/>
                </a:lnTo>
                <a:cubicBezTo>
                  <a:pt x="16848" y="564444"/>
                  <a:pt x="0" y="547596"/>
                  <a:pt x="0" y="526813"/>
                </a:cubicBezTo>
                <a:lnTo>
                  <a:pt x="0" y="37632"/>
                </a:lnTo>
                <a:cubicBezTo>
                  <a:pt x="0" y="16848"/>
                  <a:pt x="16848" y="0"/>
                  <a:pt x="3763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1481" y="3377259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Concrete Vocabulary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1481" y="3603037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nouns, objects, simple actions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6222" y="3941704"/>
            <a:ext cx="3396074" cy="564444"/>
          </a:xfrm>
          <a:custGeom>
            <a:avLst/>
            <a:gdLst/>
            <a:ahLst/>
            <a:cxnLst/>
            <a:rect l="l" t="t" r="r" b="b"/>
            <a:pathLst>
              <a:path w="3396074" h="564444">
                <a:moveTo>
                  <a:pt x="37632" y="0"/>
                </a:moveTo>
                <a:lnTo>
                  <a:pt x="3358443" y="0"/>
                </a:lnTo>
                <a:cubicBezTo>
                  <a:pt x="3379226" y="0"/>
                  <a:pt x="3396074" y="16848"/>
                  <a:pt x="3396074" y="37632"/>
                </a:cubicBezTo>
                <a:lnTo>
                  <a:pt x="3396074" y="526813"/>
                </a:lnTo>
                <a:cubicBezTo>
                  <a:pt x="3396074" y="547596"/>
                  <a:pt x="3379226" y="564444"/>
                  <a:pt x="3358443" y="564444"/>
                </a:cubicBezTo>
                <a:lnTo>
                  <a:pt x="37632" y="564444"/>
                </a:lnTo>
                <a:cubicBezTo>
                  <a:pt x="16848" y="564444"/>
                  <a:pt x="0" y="547596"/>
                  <a:pt x="0" y="526813"/>
                </a:cubicBezTo>
                <a:lnTo>
                  <a:pt x="0" y="37632"/>
                </a:lnTo>
                <a:cubicBezTo>
                  <a:pt x="0" y="16848"/>
                  <a:pt x="16848" y="0"/>
                  <a:pt x="3763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1481" y="4016963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Gesture &amp; Physical Context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1481" y="4242741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Pointing, shared environmental cues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6222" y="4581407"/>
            <a:ext cx="3396074" cy="564444"/>
          </a:xfrm>
          <a:custGeom>
            <a:avLst/>
            <a:gdLst/>
            <a:ahLst/>
            <a:cxnLst/>
            <a:rect l="l" t="t" r="r" b="b"/>
            <a:pathLst>
              <a:path w="3396074" h="564444">
                <a:moveTo>
                  <a:pt x="37632" y="0"/>
                </a:moveTo>
                <a:lnTo>
                  <a:pt x="3358443" y="0"/>
                </a:lnTo>
                <a:cubicBezTo>
                  <a:pt x="3379226" y="0"/>
                  <a:pt x="3396074" y="16848"/>
                  <a:pt x="3396074" y="37632"/>
                </a:cubicBezTo>
                <a:lnTo>
                  <a:pt x="3396074" y="526813"/>
                </a:lnTo>
                <a:cubicBezTo>
                  <a:pt x="3396074" y="547596"/>
                  <a:pt x="3379226" y="564444"/>
                  <a:pt x="3358443" y="564444"/>
                </a:cubicBezTo>
                <a:lnTo>
                  <a:pt x="37632" y="564444"/>
                </a:lnTo>
                <a:cubicBezTo>
                  <a:pt x="16848" y="564444"/>
                  <a:pt x="0" y="547596"/>
                  <a:pt x="0" y="526813"/>
                </a:cubicBezTo>
                <a:lnTo>
                  <a:pt x="0" y="37632"/>
                </a:lnTo>
                <a:cubicBezTo>
                  <a:pt x="0" y="16848"/>
                  <a:pt x="16848" y="0"/>
                  <a:pt x="3763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1481" y="4656667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Recognition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1481" y="4882444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Observe patterns, build symbolic system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6222" y="5263444"/>
            <a:ext cx="3396074" cy="9407"/>
          </a:xfrm>
          <a:custGeom>
            <a:avLst/>
            <a:gdLst/>
            <a:ahLst/>
            <a:cxnLst/>
            <a:rect l="l" t="t" r="r" b="b"/>
            <a:pathLst>
              <a:path w="3396074" h="9407">
                <a:moveTo>
                  <a:pt x="0" y="0"/>
                </a:moveTo>
                <a:lnTo>
                  <a:pt x="3396074" y="0"/>
                </a:lnTo>
                <a:lnTo>
                  <a:pt x="3396074" y="9407"/>
                </a:lnTo>
                <a:lnTo>
                  <a:pt x="0" y="9407"/>
                </a:lnTo>
                <a:lnTo>
                  <a:pt x="0" y="0"/>
                </a:lnTo>
                <a:close/>
              </a:path>
            </a:pathLst>
          </a:custGeom>
          <a:solidFill>
            <a:srgbClr val="C9A87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6222" y="5381037"/>
            <a:ext cx="3461926" cy="376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NLP:</a:t>
            </a:r>
            <a:r>
              <a:rPr lang="en-US" sz="103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Symbol grounding, multimodal learning, few-shot learning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44211" y="1585148"/>
            <a:ext cx="3706519" cy="4327407"/>
          </a:xfrm>
          <a:custGeom>
            <a:avLst/>
            <a:gdLst/>
            <a:ahLst/>
            <a:cxnLst/>
            <a:rect l="l" t="t" r="r" b="b"/>
            <a:pathLst>
              <a:path w="3706519" h="4327407">
                <a:moveTo>
                  <a:pt x="75242" y="0"/>
                </a:moveTo>
                <a:lnTo>
                  <a:pt x="3631276" y="0"/>
                </a:lnTo>
                <a:cubicBezTo>
                  <a:pt x="3672831" y="0"/>
                  <a:pt x="3706519" y="33687"/>
                  <a:pt x="3706519" y="75242"/>
                </a:cubicBezTo>
                <a:lnTo>
                  <a:pt x="3706519" y="4252165"/>
                </a:lnTo>
                <a:cubicBezTo>
                  <a:pt x="3706519" y="4293720"/>
                  <a:pt x="3672831" y="4327407"/>
                  <a:pt x="3631276" y="4327407"/>
                </a:cubicBezTo>
                <a:lnTo>
                  <a:pt x="75242" y="4327407"/>
                </a:lnTo>
                <a:cubicBezTo>
                  <a:pt x="33687" y="4327407"/>
                  <a:pt x="0" y="4293720"/>
                  <a:pt x="0" y="4252165"/>
                </a:cubicBezTo>
                <a:lnTo>
                  <a:pt x="0" y="75242"/>
                </a:lnTo>
                <a:cubicBezTo>
                  <a:pt x="0" y="33687"/>
                  <a:pt x="33687" y="0"/>
                  <a:pt x="7524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399433" y="1740370"/>
            <a:ext cx="451556" cy="451556"/>
          </a:xfrm>
          <a:custGeom>
            <a:avLst/>
            <a:gdLst/>
            <a:ahLst/>
            <a:cxnLst/>
            <a:rect l="l" t="t" r="r" b="b"/>
            <a:pathLst>
              <a:path w="451556" h="451556">
                <a:moveTo>
                  <a:pt x="225778" y="0"/>
                </a:moveTo>
                <a:lnTo>
                  <a:pt x="225778" y="0"/>
                </a:lnTo>
                <a:cubicBezTo>
                  <a:pt x="350388" y="0"/>
                  <a:pt x="451556" y="101168"/>
                  <a:pt x="451556" y="225778"/>
                </a:cubicBezTo>
                <a:lnTo>
                  <a:pt x="451556" y="225778"/>
                </a:lnTo>
                <a:cubicBezTo>
                  <a:pt x="451556" y="350388"/>
                  <a:pt x="350388" y="451556"/>
                  <a:pt x="225778" y="451556"/>
                </a:cubicBezTo>
                <a:lnTo>
                  <a:pt x="225778" y="451556"/>
                </a:lnTo>
                <a:cubicBezTo>
                  <a:pt x="101168" y="451556"/>
                  <a:pt x="0" y="350388"/>
                  <a:pt x="0" y="225778"/>
                </a:cubicBezTo>
                <a:lnTo>
                  <a:pt x="0" y="225778"/>
                </a:lnTo>
                <a:cubicBezTo>
                  <a:pt x="0" y="101168"/>
                  <a:pt x="101168" y="0"/>
                  <a:pt x="225778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52396" y="1740370"/>
            <a:ext cx="545630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1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63877" y="1834444"/>
            <a:ext cx="1439333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Analysis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99433" y="2304815"/>
            <a:ext cx="3471333" cy="244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Corpus Analysis &amp; Statistical Learning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99433" y="2662296"/>
            <a:ext cx="3396074" cy="564444"/>
          </a:xfrm>
          <a:custGeom>
            <a:avLst/>
            <a:gdLst/>
            <a:ahLst/>
            <a:cxnLst/>
            <a:rect l="l" t="t" r="r" b="b"/>
            <a:pathLst>
              <a:path w="3396074" h="564444">
                <a:moveTo>
                  <a:pt x="37632" y="0"/>
                </a:moveTo>
                <a:lnTo>
                  <a:pt x="3358443" y="0"/>
                </a:lnTo>
                <a:cubicBezTo>
                  <a:pt x="3379226" y="0"/>
                  <a:pt x="3396074" y="16848"/>
                  <a:pt x="3396074" y="37632"/>
                </a:cubicBezTo>
                <a:lnTo>
                  <a:pt x="3396074" y="526813"/>
                </a:lnTo>
                <a:cubicBezTo>
                  <a:pt x="3396074" y="547596"/>
                  <a:pt x="3379226" y="564444"/>
                  <a:pt x="3358443" y="564444"/>
                </a:cubicBezTo>
                <a:lnTo>
                  <a:pt x="37632" y="564444"/>
                </a:lnTo>
                <a:cubicBezTo>
                  <a:pt x="16848" y="564444"/>
                  <a:pt x="0" y="547596"/>
                  <a:pt x="0" y="526813"/>
                </a:cubicBezTo>
                <a:lnTo>
                  <a:pt x="0" y="37632"/>
                </a:lnTo>
                <a:cubicBezTo>
                  <a:pt x="0" y="16848"/>
                  <a:pt x="16848" y="0"/>
                  <a:pt x="3763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74692" y="2737556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Structural Patterns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74692" y="2963333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Recurring shapes, segments, arrangements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99433" y="3302000"/>
            <a:ext cx="3396074" cy="564444"/>
          </a:xfrm>
          <a:custGeom>
            <a:avLst/>
            <a:gdLst/>
            <a:ahLst/>
            <a:cxnLst/>
            <a:rect l="l" t="t" r="r" b="b"/>
            <a:pathLst>
              <a:path w="3396074" h="564444">
                <a:moveTo>
                  <a:pt x="37632" y="0"/>
                </a:moveTo>
                <a:lnTo>
                  <a:pt x="3358443" y="0"/>
                </a:lnTo>
                <a:cubicBezTo>
                  <a:pt x="3379226" y="0"/>
                  <a:pt x="3396074" y="16848"/>
                  <a:pt x="3396074" y="37632"/>
                </a:cubicBezTo>
                <a:lnTo>
                  <a:pt x="3396074" y="526813"/>
                </a:lnTo>
                <a:cubicBezTo>
                  <a:pt x="3396074" y="547596"/>
                  <a:pt x="3379226" y="564444"/>
                  <a:pt x="3358443" y="564444"/>
                </a:cubicBezTo>
                <a:lnTo>
                  <a:pt x="37632" y="564444"/>
                </a:lnTo>
                <a:cubicBezTo>
                  <a:pt x="16848" y="564444"/>
                  <a:pt x="0" y="547596"/>
                  <a:pt x="0" y="526813"/>
                </a:cubicBezTo>
                <a:lnTo>
                  <a:pt x="0" y="37632"/>
                </a:lnTo>
                <a:cubicBezTo>
                  <a:pt x="0" y="16848"/>
                  <a:pt x="16848" y="0"/>
                  <a:pt x="3763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474692" y="3377259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Contextual Correlation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74692" y="3603037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 variations to contexts/questions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99433" y="3941704"/>
            <a:ext cx="3396074" cy="564444"/>
          </a:xfrm>
          <a:custGeom>
            <a:avLst/>
            <a:gdLst/>
            <a:ahLst/>
            <a:cxnLst/>
            <a:rect l="l" t="t" r="r" b="b"/>
            <a:pathLst>
              <a:path w="3396074" h="564444">
                <a:moveTo>
                  <a:pt x="37632" y="0"/>
                </a:moveTo>
                <a:lnTo>
                  <a:pt x="3358443" y="0"/>
                </a:lnTo>
                <a:cubicBezTo>
                  <a:pt x="3379226" y="0"/>
                  <a:pt x="3396074" y="16848"/>
                  <a:pt x="3396074" y="37632"/>
                </a:cubicBezTo>
                <a:lnTo>
                  <a:pt x="3396074" y="526813"/>
                </a:lnTo>
                <a:cubicBezTo>
                  <a:pt x="3396074" y="547596"/>
                  <a:pt x="3379226" y="564444"/>
                  <a:pt x="3358443" y="564444"/>
                </a:cubicBezTo>
                <a:lnTo>
                  <a:pt x="37632" y="564444"/>
                </a:lnTo>
                <a:cubicBezTo>
                  <a:pt x="16848" y="564444"/>
                  <a:pt x="0" y="547596"/>
                  <a:pt x="0" y="526813"/>
                </a:cubicBezTo>
                <a:lnTo>
                  <a:pt x="0" y="37632"/>
                </a:lnTo>
                <a:cubicBezTo>
                  <a:pt x="0" y="16848"/>
                  <a:pt x="16848" y="0"/>
                  <a:pt x="3763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474692" y="4016963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Frequency Analysis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74692" y="4242741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symbol frequency and combinations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99433" y="4581407"/>
            <a:ext cx="3396074" cy="564444"/>
          </a:xfrm>
          <a:custGeom>
            <a:avLst/>
            <a:gdLst/>
            <a:ahLst/>
            <a:cxnLst/>
            <a:rect l="l" t="t" r="r" b="b"/>
            <a:pathLst>
              <a:path w="3396074" h="564444">
                <a:moveTo>
                  <a:pt x="37632" y="0"/>
                </a:moveTo>
                <a:lnTo>
                  <a:pt x="3358443" y="0"/>
                </a:lnTo>
                <a:cubicBezTo>
                  <a:pt x="3379226" y="0"/>
                  <a:pt x="3396074" y="16848"/>
                  <a:pt x="3396074" y="37632"/>
                </a:cubicBezTo>
                <a:lnTo>
                  <a:pt x="3396074" y="526813"/>
                </a:lnTo>
                <a:cubicBezTo>
                  <a:pt x="3396074" y="547596"/>
                  <a:pt x="3379226" y="564444"/>
                  <a:pt x="3358443" y="564444"/>
                </a:cubicBezTo>
                <a:lnTo>
                  <a:pt x="37632" y="564444"/>
                </a:lnTo>
                <a:cubicBezTo>
                  <a:pt x="16848" y="564444"/>
                  <a:pt x="0" y="547596"/>
                  <a:pt x="0" y="526813"/>
                </a:cubicBezTo>
                <a:lnTo>
                  <a:pt x="0" y="37632"/>
                </a:lnTo>
                <a:cubicBezTo>
                  <a:pt x="0" y="16848"/>
                  <a:pt x="16848" y="0"/>
                  <a:pt x="3763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474692" y="4656667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Comparative Semantics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74692" y="4882444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hypotheses, observe responses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99433" y="5451593"/>
            <a:ext cx="3396074" cy="9407"/>
          </a:xfrm>
          <a:custGeom>
            <a:avLst/>
            <a:gdLst/>
            <a:ahLst/>
            <a:cxnLst/>
            <a:rect l="l" t="t" r="r" b="b"/>
            <a:pathLst>
              <a:path w="3396074" h="9407">
                <a:moveTo>
                  <a:pt x="0" y="0"/>
                </a:moveTo>
                <a:lnTo>
                  <a:pt x="3396074" y="0"/>
                </a:lnTo>
                <a:lnTo>
                  <a:pt x="3396074" y="9407"/>
                </a:lnTo>
                <a:lnTo>
                  <a:pt x="0" y="9407"/>
                </a:lnTo>
                <a:lnTo>
                  <a:pt x="0" y="0"/>
                </a:lnTo>
                <a:close/>
              </a:path>
            </a:pathLst>
          </a:custGeom>
          <a:solidFill>
            <a:srgbClr val="C9A87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399433" y="5569185"/>
            <a:ext cx="3461926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NLP:</a:t>
            </a:r>
            <a:r>
              <a:rPr lang="en-US" sz="103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N-gram models, HMM, word embeddings, clustering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07568" y="1585148"/>
            <a:ext cx="3706519" cy="4327407"/>
          </a:xfrm>
          <a:custGeom>
            <a:avLst/>
            <a:gdLst/>
            <a:ahLst/>
            <a:cxnLst/>
            <a:rect l="l" t="t" r="r" b="b"/>
            <a:pathLst>
              <a:path w="3706519" h="4327407">
                <a:moveTo>
                  <a:pt x="75242" y="0"/>
                </a:moveTo>
                <a:lnTo>
                  <a:pt x="3631276" y="0"/>
                </a:lnTo>
                <a:cubicBezTo>
                  <a:pt x="3672831" y="0"/>
                  <a:pt x="3706519" y="33687"/>
                  <a:pt x="3706519" y="75242"/>
                </a:cubicBezTo>
                <a:lnTo>
                  <a:pt x="3706519" y="4252165"/>
                </a:lnTo>
                <a:cubicBezTo>
                  <a:pt x="3706519" y="4293720"/>
                  <a:pt x="3672831" y="4327407"/>
                  <a:pt x="3631276" y="4327407"/>
                </a:cubicBezTo>
                <a:lnTo>
                  <a:pt x="75242" y="4327407"/>
                </a:lnTo>
                <a:cubicBezTo>
                  <a:pt x="33687" y="4327407"/>
                  <a:pt x="0" y="4293720"/>
                  <a:pt x="0" y="4252165"/>
                </a:cubicBezTo>
                <a:lnTo>
                  <a:pt x="0" y="75242"/>
                </a:lnTo>
                <a:cubicBezTo>
                  <a:pt x="0" y="33687"/>
                  <a:pt x="33687" y="0"/>
                  <a:pt x="7524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262791" y="1740370"/>
            <a:ext cx="451556" cy="451556"/>
          </a:xfrm>
          <a:custGeom>
            <a:avLst/>
            <a:gdLst/>
            <a:ahLst/>
            <a:cxnLst/>
            <a:rect l="l" t="t" r="r" b="b"/>
            <a:pathLst>
              <a:path w="451556" h="451556">
                <a:moveTo>
                  <a:pt x="225778" y="0"/>
                </a:moveTo>
                <a:lnTo>
                  <a:pt x="225778" y="0"/>
                </a:lnTo>
                <a:cubicBezTo>
                  <a:pt x="350388" y="0"/>
                  <a:pt x="451556" y="101168"/>
                  <a:pt x="451556" y="225778"/>
                </a:cubicBezTo>
                <a:lnTo>
                  <a:pt x="451556" y="225778"/>
                </a:lnTo>
                <a:cubicBezTo>
                  <a:pt x="451556" y="350388"/>
                  <a:pt x="350388" y="451556"/>
                  <a:pt x="225778" y="451556"/>
                </a:cubicBezTo>
                <a:lnTo>
                  <a:pt x="225778" y="451556"/>
                </a:lnTo>
                <a:cubicBezTo>
                  <a:pt x="101168" y="451556"/>
                  <a:pt x="0" y="350388"/>
                  <a:pt x="0" y="225778"/>
                </a:cubicBezTo>
                <a:lnTo>
                  <a:pt x="0" y="225778"/>
                </a:lnTo>
                <a:cubicBezTo>
                  <a:pt x="0" y="101168"/>
                  <a:pt x="101168" y="0"/>
                  <a:pt x="225778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215753" y="1740370"/>
            <a:ext cx="545630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1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827235" y="1834444"/>
            <a:ext cx="1806222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Understanding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62791" y="2304815"/>
            <a:ext cx="3471333" cy="244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Cognitive Transformation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62791" y="2662296"/>
            <a:ext cx="3396074" cy="564444"/>
          </a:xfrm>
          <a:custGeom>
            <a:avLst/>
            <a:gdLst/>
            <a:ahLst/>
            <a:cxnLst/>
            <a:rect l="l" t="t" r="r" b="b"/>
            <a:pathLst>
              <a:path w="3396074" h="564444">
                <a:moveTo>
                  <a:pt x="37632" y="0"/>
                </a:moveTo>
                <a:lnTo>
                  <a:pt x="3358443" y="0"/>
                </a:lnTo>
                <a:cubicBezTo>
                  <a:pt x="3379226" y="0"/>
                  <a:pt x="3396074" y="16848"/>
                  <a:pt x="3396074" y="37632"/>
                </a:cubicBezTo>
                <a:lnTo>
                  <a:pt x="3396074" y="526813"/>
                </a:lnTo>
                <a:cubicBezTo>
                  <a:pt x="3396074" y="547596"/>
                  <a:pt x="3379226" y="564444"/>
                  <a:pt x="3358443" y="564444"/>
                </a:cubicBezTo>
                <a:lnTo>
                  <a:pt x="37632" y="564444"/>
                </a:lnTo>
                <a:cubicBezTo>
                  <a:pt x="16848" y="564444"/>
                  <a:pt x="0" y="547596"/>
                  <a:pt x="0" y="526813"/>
                </a:cubicBezTo>
                <a:lnTo>
                  <a:pt x="0" y="37632"/>
                </a:lnTo>
                <a:cubicBezTo>
                  <a:pt x="0" y="16848"/>
                  <a:pt x="16848" y="0"/>
                  <a:pt x="3763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338050" y="2737556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Beyond Translation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38050" y="2963333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thinking like a Heptapod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62791" y="3302000"/>
            <a:ext cx="3396074" cy="564444"/>
          </a:xfrm>
          <a:custGeom>
            <a:avLst/>
            <a:gdLst/>
            <a:ahLst/>
            <a:cxnLst/>
            <a:rect l="l" t="t" r="r" b="b"/>
            <a:pathLst>
              <a:path w="3396074" h="564444">
                <a:moveTo>
                  <a:pt x="37632" y="0"/>
                </a:moveTo>
                <a:lnTo>
                  <a:pt x="3358443" y="0"/>
                </a:lnTo>
                <a:cubicBezTo>
                  <a:pt x="3379226" y="0"/>
                  <a:pt x="3396074" y="16848"/>
                  <a:pt x="3396074" y="37632"/>
                </a:cubicBezTo>
                <a:lnTo>
                  <a:pt x="3396074" y="526813"/>
                </a:lnTo>
                <a:cubicBezTo>
                  <a:pt x="3396074" y="547596"/>
                  <a:pt x="3379226" y="564444"/>
                  <a:pt x="3358443" y="564444"/>
                </a:cubicBezTo>
                <a:lnTo>
                  <a:pt x="37632" y="564444"/>
                </a:lnTo>
                <a:cubicBezTo>
                  <a:pt x="16848" y="564444"/>
                  <a:pt x="0" y="547596"/>
                  <a:pt x="0" y="526813"/>
                </a:cubicBezTo>
                <a:lnTo>
                  <a:pt x="0" y="37632"/>
                </a:lnTo>
                <a:cubicBezTo>
                  <a:pt x="0" y="16848"/>
                  <a:pt x="16848" y="0"/>
                  <a:pt x="3763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338050" y="3377259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Internalize Language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38050" y="3603037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Cognition fundamentally changes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62791" y="3941704"/>
            <a:ext cx="3396074" cy="564444"/>
          </a:xfrm>
          <a:custGeom>
            <a:avLst/>
            <a:gdLst/>
            <a:ahLst/>
            <a:cxnLst/>
            <a:rect l="l" t="t" r="r" b="b"/>
            <a:pathLst>
              <a:path w="3396074" h="564444">
                <a:moveTo>
                  <a:pt x="37632" y="0"/>
                </a:moveTo>
                <a:lnTo>
                  <a:pt x="3358443" y="0"/>
                </a:lnTo>
                <a:cubicBezTo>
                  <a:pt x="3379226" y="0"/>
                  <a:pt x="3396074" y="16848"/>
                  <a:pt x="3396074" y="37632"/>
                </a:cubicBezTo>
                <a:lnTo>
                  <a:pt x="3396074" y="526813"/>
                </a:lnTo>
                <a:cubicBezTo>
                  <a:pt x="3396074" y="547596"/>
                  <a:pt x="3379226" y="564444"/>
                  <a:pt x="3358443" y="564444"/>
                </a:cubicBezTo>
                <a:lnTo>
                  <a:pt x="37632" y="564444"/>
                </a:lnTo>
                <a:cubicBezTo>
                  <a:pt x="16848" y="564444"/>
                  <a:pt x="0" y="547596"/>
                  <a:pt x="0" y="526813"/>
                </a:cubicBezTo>
                <a:lnTo>
                  <a:pt x="0" y="37632"/>
                </a:lnTo>
                <a:cubicBezTo>
                  <a:pt x="0" y="16848"/>
                  <a:pt x="16848" y="0"/>
                  <a:pt x="37632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338050" y="4016963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Perception Shift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38050" y="4242741"/>
            <a:ext cx="3311407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Experience past, present, future simultaneously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267494" y="4586111"/>
            <a:ext cx="3386667" cy="573852"/>
          </a:xfrm>
          <a:custGeom>
            <a:avLst/>
            <a:gdLst/>
            <a:ahLst/>
            <a:cxnLst/>
            <a:rect l="l" t="t" r="r" b="b"/>
            <a:pathLst>
              <a:path w="3386667" h="573852">
                <a:moveTo>
                  <a:pt x="37627" y="0"/>
                </a:moveTo>
                <a:lnTo>
                  <a:pt x="3349039" y="0"/>
                </a:lnTo>
                <a:cubicBezTo>
                  <a:pt x="3369820" y="0"/>
                  <a:pt x="3386667" y="16846"/>
                  <a:pt x="3386667" y="37627"/>
                </a:cubicBezTo>
                <a:lnTo>
                  <a:pt x="3386667" y="536224"/>
                </a:lnTo>
                <a:cubicBezTo>
                  <a:pt x="3386667" y="557005"/>
                  <a:pt x="3369820" y="573852"/>
                  <a:pt x="3349039" y="573852"/>
                </a:cubicBezTo>
                <a:lnTo>
                  <a:pt x="37627" y="573852"/>
                </a:lnTo>
                <a:cubicBezTo>
                  <a:pt x="16860" y="573852"/>
                  <a:pt x="0" y="556992"/>
                  <a:pt x="0" y="536224"/>
                </a:cubicBezTo>
                <a:lnTo>
                  <a:pt x="0" y="37627"/>
                </a:lnTo>
                <a:cubicBezTo>
                  <a:pt x="0" y="16860"/>
                  <a:pt x="16860" y="0"/>
                  <a:pt x="37627" y="0"/>
                </a:cubicBezTo>
                <a:close/>
              </a:path>
            </a:pathLst>
          </a:custGeom>
          <a:solidFill>
            <a:srgbClr val="C9A87C">
              <a:alpha val="10196"/>
            </a:srgbClr>
          </a:solidFill>
          <a:ln w="12700">
            <a:solidFill>
              <a:srgbClr val="C9A87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347457" y="4666074"/>
            <a:ext cx="3292593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Sapir-Whorf Hypothesis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47457" y="4891852"/>
            <a:ext cx="3292593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 shapes thought and reality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62791" y="5451593"/>
            <a:ext cx="3396074" cy="9407"/>
          </a:xfrm>
          <a:custGeom>
            <a:avLst/>
            <a:gdLst/>
            <a:ahLst/>
            <a:cxnLst/>
            <a:rect l="l" t="t" r="r" b="b"/>
            <a:pathLst>
              <a:path w="3396074" h="9407">
                <a:moveTo>
                  <a:pt x="0" y="0"/>
                </a:moveTo>
                <a:lnTo>
                  <a:pt x="3396074" y="0"/>
                </a:lnTo>
                <a:lnTo>
                  <a:pt x="3396074" y="9407"/>
                </a:lnTo>
                <a:lnTo>
                  <a:pt x="0" y="9407"/>
                </a:lnTo>
                <a:lnTo>
                  <a:pt x="0" y="0"/>
                </a:lnTo>
                <a:close/>
              </a:path>
            </a:pathLst>
          </a:custGeom>
          <a:solidFill>
            <a:srgbClr val="C9A87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262791" y="5569185"/>
            <a:ext cx="3461926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NLP:</a:t>
            </a:r>
            <a:r>
              <a:rPr lang="en-US" sz="1037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Transformers, transfer learning, multimodal models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95111" y="6067778"/>
            <a:ext cx="11420593" cy="790222"/>
          </a:xfrm>
          <a:custGeom>
            <a:avLst/>
            <a:gdLst/>
            <a:ahLst/>
            <a:cxnLst/>
            <a:rect l="l" t="t" r="r" b="b"/>
            <a:pathLst>
              <a:path w="11420593" h="790222">
                <a:moveTo>
                  <a:pt x="0" y="0"/>
                </a:moveTo>
                <a:lnTo>
                  <a:pt x="11345332" y="0"/>
                </a:lnTo>
                <a:cubicBezTo>
                  <a:pt x="11386897" y="0"/>
                  <a:pt x="11420593" y="33695"/>
                  <a:pt x="11420593" y="75261"/>
                </a:cubicBezTo>
                <a:lnTo>
                  <a:pt x="11420593" y="714961"/>
                </a:lnTo>
                <a:cubicBezTo>
                  <a:pt x="11420593" y="756527"/>
                  <a:pt x="11386897" y="790222"/>
                  <a:pt x="11345332" y="790222"/>
                </a:cubicBezTo>
                <a:lnTo>
                  <a:pt x="0" y="790222"/>
                </a:lnTo>
                <a:lnTo>
                  <a:pt x="0" y="0"/>
                </a:lnTo>
                <a:close/>
              </a:path>
            </a:pathLst>
          </a:custGeom>
          <a:solidFill>
            <a:srgbClr val="C9A87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395111" y="6067778"/>
            <a:ext cx="37630" cy="790222"/>
          </a:xfrm>
          <a:custGeom>
            <a:avLst/>
            <a:gdLst/>
            <a:ahLst/>
            <a:cxnLst/>
            <a:rect l="l" t="t" r="r" b="b"/>
            <a:pathLst>
              <a:path w="37630" h="790222">
                <a:moveTo>
                  <a:pt x="0" y="0"/>
                </a:moveTo>
                <a:lnTo>
                  <a:pt x="37630" y="0"/>
                </a:lnTo>
                <a:lnTo>
                  <a:pt x="37630" y="790222"/>
                </a:lnTo>
                <a:lnTo>
                  <a:pt x="0" y="790222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64444" y="6218296"/>
            <a:ext cx="11176000" cy="489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is Key:</a:t>
            </a:r>
            <a:r>
              <a:rPr lang="en-US" sz="1185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Modern NLP combines all three approaches—rule-based constraints, statistical pattern discovery, and deep learning representations. Banks similarly integrates explicit grounding, corpus analysis, and cognitive immersion.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887" y="332887"/>
            <a:ext cx="11584481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kern="0" spc="92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Paradigm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2887" y="565909"/>
            <a:ext cx="11725958" cy="399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45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Approaches: A 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2887" y="1031951"/>
            <a:ext cx="1160112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Rule-Based, Statistical &amp; Deep Learning Paradigms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7048" y="1402288"/>
            <a:ext cx="11517903" cy="4102837"/>
          </a:xfrm>
          <a:custGeom>
            <a:avLst/>
            <a:gdLst/>
            <a:ahLst/>
            <a:cxnLst/>
            <a:rect l="l" t="t" r="r" b="b"/>
            <a:pathLst>
              <a:path w="11517903" h="4102837">
                <a:moveTo>
                  <a:pt x="66589" y="0"/>
                </a:moveTo>
                <a:lnTo>
                  <a:pt x="11451314" y="0"/>
                </a:lnTo>
                <a:cubicBezTo>
                  <a:pt x="11488090" y="0"/>
                  <a:pt x="11517903" y="29813"/>
                  <a:pt x="11517903" y="66589"/>
                </a:cubicBezTo>
                <a:lnTo>
                  <a:pt x="11517903" y="4036248"/>
                </a:lnTo>
                <a:cubicBezTo>
                  <a:pt x="11517903" y="4073024"/>
                  <a:pt x="11488090" y="4102837"/>
                  <a:pt x="11451314" y="4102837"/>
                </a:cubicBezTo>
                <a:lnTo>
                  <a:pt x="66589" y="4102837"/>
                </a:lnTo>
                <a:cubicBezTo>
                  <a:pt x="29813" y="4102837"/>
                  <a:pt x="0" y="4073024"/>
                  <a:pt x="0" y="4036248"/>
                </a:cubicBezTo>
                <a:lnTo>
                  <a:pt x="0" y="66589"/>
                </a:lnTo>
                <a:cubicBezTo>
                  <a:pt x="0" y="29813"/>
                  <a:pt x="29813" y="0"/>
                  <a:pt x="6658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653" y="1572893"/>
          <a:ext cx="11176694" cy="3761628"/>
        </p:xfrm>
        <a:graphic>
          <a:graphicData uri="http://schemas.openxmlformats.org/drawingml/2006/table">
            <a:tbl>
              <a:tblPr/>
              <a:tblGrid>
                <a:gridCol w="2013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9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7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0407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Approach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9866" marR="99866" marT="99866" marB="9986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C9A8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7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Arrival Parallel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9866" marR="99866" marT="99866" marB="9986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C9A8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7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Strengths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9866" marR="99866" marT="99866" marB="9986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C9A8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7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Limitations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9866" marR="99866" marT="99866" marB="9986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C9A8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7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040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Rule-Based NLP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1980s-1990s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9866" marR="99866" marT="99866" marB="9986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C9A8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Manual vocabulary building, explicit grammar rules, hand-crafted features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9866" marR="99866" marT="99866" marB="9986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C9A8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Interpretable and explainable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Precise for well-defined domains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Controllable behavior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9866" marR="99866" marT="99866" marB="9986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C9A8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Doesn't scale to large data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Can't handle ambiguity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Brittle with novel patterns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Requires expert knowledge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9866" marR="99866" marT="99866" marB="9986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C9A8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040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Statistical NLP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1990s-2010s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9866" marR="99866" marT="99866" marB="9986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Pattern recognition in logogram corpus, frequency analysis, probabilistic models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9866" marR="99866" marT="99866" marB="9986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Data-driven and adaptive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Discovers patterns automatically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Handles variation better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9866" marR="99866" marT="99866" marB="9986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Requires large datasets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Struggles with rare phenomena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Feature engineering intensive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Limited generalization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9866" marR="99866" marT="99866" marB="9986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4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040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Deep Learning NLP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2010s-present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9866" marR="99866" marT="99866" marB="9986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Cognitive transformation, internalized language understanding, learned representations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9866" marR="99866" marT="99866" marB="9986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Learns complex representations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Generalizes across domains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End-to-end learning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State-of-the-art performance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9866" marR="99866" marT="99866" marB="9986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4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Black box interpretability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Requires massive compute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May hallucinate or bias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r>
                        <a:rPr lang="en-US" sz="1000" u="none" dirty="0">
                          <a:solidFill>
                            <a:srgbClr val="EDF2F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• Data hungry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9866" marR="99866" marT="99866" marB="9986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4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49532" y="5642441"/>
            <a:ext cx="5675730" cy="1215039"/>
          </a:xfrm>
          <a:custGeom>
            <a:avLst/>
            <a:gdLst/>
            <a:ahLst/>
            <a:cxnLst/>
            <a:rect l="l" t="t" r="r" b="b"/>
            <a:pathLst>
              <a:path w="5675730" h="1215039">
                <a:moveTo>
                  <a:pt x="0" y="0"/>
                </a:moveTo>
                <a:lnTo>
                  <a:pt x="5609158" y="0"/>
                </a:lnTo>
                <a:cubicBezTo>
                  <a:pt x="5645924" y="0"/>
                  <a:pt x="5675730" y="29805"/>
                  <a:pt x="5675730" y="66572"/>
                </a:cubicBezTo>
                <a:lnTo>
                  <a:pt x="5675730" y="1148467"/>
                </a:lnTo>
                <a:cubicBezTo>
                  <a:pt x="5675730" y="1185234"/>
                  <a:pt x="5645924" y="1215039"/>
                  <a:pt x="5609158" y="1215039"/>
                </a:cubicBezTo>
                <a:lnTo>
                  <a:pt x="0" y="1215039"/>
                </a:lnTo>
                <a:lnTo>
                  <a:pt x="0" y="0"/>
                </a:lnTo>
                <a:close/>
              </a:path>
            </a:pathLst>
          </a:custGeom>
          <a:solidFill>
            <a:srgbClr val="C9A87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49532" y="5642441"/>
            <a:ext cx="33289" cy="1215039"/>
          </a:xfrm>
          <a:custGeom>
            <a:avLst/>
            <a:gdLst/>
            <a:ahLst/>
            <a:cxnLst/>
            <a:rect l="l" t="t" r="r" b="b"/>
            <a:pathLst>
              <a:path w="33289" h="1215039">
                <a:moveTo>
                  <a:pt x="0" y="0"/>
                </a:moveTo>
                <a:lnTo>
                  <a:pt x="33289" y="0"/>
                </a:lnTo>
                <a:lnTo>
                  <a:pt x="33289" y="1215039"/>
                </a:lnTo>
                <a:lnTo>
                  <a:pt x="0" y="1215039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38861" y="5817207"/>
            <a:ext cx="112349" cy="149799"/>
          </a:xfrm>
          <a:custGeom>
            <a:avLst/>
            <a:gdLst/>
            <a:ahLst/>
            <a:cxnLst/>
            <a:rect l="l" t="t" r="r" b="b"/>
            <a:pathLst>
              <a:path w="112349" h="149799">
                <a:moveTo>
                  <a:pt x="85696" y="112349"/>
                </a:moveTo>
                <a:cubicBezTo>
                  <a:pt x="87832" y="105825"/>
                  <a:pt x="92103" y="99915"/>
                  <a:pt x="96931" y="94824"/>
                </a:cubicBezTo>
                <a:cubicBezTo>
                  <a:pt x="106498" y="84759"/>
                  <a:pt x="112349" y="71155"/>
                  <a:pt x="112349" y="56175"/>
                </a:cubicBezTo>
                <a:cubicBezTo>
                  <a:pt x="112349" y="25162"/>
                  <a:pt x="87188" y="0"/>
                  <a:pt x="56175" y="0"/>
                </a:cubicBezTo>
                <a:cubicBezTo>
                  <a:pt x="25162" y="0"/>
                  <a:pt x="0" y="25162"/>
                  <a:pt x="0" y="56175"/>
                </a:cubicBezTo>
                <a:cubicBezTo>
                  <a:pt x="0" y="71155"/>
                  <a:pt x="5852" y="84759"/>
                  <a:pt x="15419" y="94824"/>
                </a:cubicBezTo>
                <a:cubicBezTo>
                  <a:pt x="20246" y="99915"/>
                  <a:pt x="24547" y="105825"/>
                  <a:pt x="26654" y="112349"/>
                </a:cubicBezTo>
                <a:lnTo>
                  <a:pt x="85666" y="112349"/>
                </a:lnTo>
                <a:close/>
                <a:moveTo>
                  <a:pt x="84262" y="126393"/>
                </a:moveTo>
                <a:lnTo>
                  <a:pt x="28087" y="126393"/>
                </a:lnTo>
                <a:lnTo>
                  <a:pt x="28087" y="131074"/>
                </a:lnTo>
                <a:cubicBezTo>
                  <a:pt x="28087" y="144006"/>
                  <a:pt x="38562" y="154481"/>
                  <a:pt x="51494" y="154481"/>
                </a:cubicBezTo>
                <a:lnTo>
                  <a:pt x="60856" y="154481"/>
                </a:lnTo>
                <a:cubicBezTo>
                  <a:pt x="73788" y="154481"/>
                  <a:pt x="84262" y="144006"/>
                  <a:pt x="84262" y="131074"/>
                </a:cubicBezTo>
                <a:lnTo>
                  <a:pt x="84262" y="126393"/>
                </a:lnTo>
                <a:close/>
                <a:moveTo>
                  <a:pt x="53834" y="32769"/>
                </a:moveTo>
                <a:cubicBezTo>
                  <a:pt x="42190" y="32769"/>
                  <a:pt x="32769" y="42190"/>
                  <a:pt x="32769" y="53834"/>
                </a:cubicBezTo>
                <a:cubicBezTo>
                  <a:pt x="32769" y="57725"/>
                  <a:pt x="29638" y="60856"/>
                  <a:pt x="25747" y="60856"/>
                </a:cubicBezTo>
                <a:cubicBezTo>
                  <a:pt x="21855" y="60856"/>
                  <a:pt x="18725" y="57725"/>
                  <a:pt x="18725" y="53834"/>
                </a:cubicBezTo>
                <a:cubicBezTo>
                  <a:pt x="18725" y="34436"/>
                  <a:pt x="34436" y="18725"/>
                  <a:pt x="53834" y="18725"/>
                </a:cubicBezTo>
                <a:cubicBezTo>
                  <a:pt x="57725" y="18725"/>
                  <a:pt x="60856" y="21855"/>
                  <a:pt x="60856" y="25747"/>
                </a:cubicBezTo>
                <a:cubicBezTo>
                  <a:pt x="60856" y="29638"/>
                  <a:pt x="57725" y="32769"/>
                  <a:pt x="53834" y="32769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7"/>
          <p:cNvSpPr/>
          <p:nvPr/>
        </p:nvSpPr>
        <p:spPr>
          <a:xfrm>
            <a:off x="690741" y="5775596"/>
            <a:ext cx="527626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is Key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9331" y="6075195"/>
            <a:ext cx="5459353" cy="64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NLP systems combine all three approaches: rule-based constraints for structural validity, statistical methods for pattern discovery, and deep learning for representation and generalization.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78702" y="5642441"/>
            <a:ext cx="5675730" cy="1215039"/>
          </a:xfrm>
          <a:custGeom>
            <a:avLst/>
            <a:gdLst/>
            <a:ahLst/>
            <a:cxnLst/>
            <a:rect l="l" t="t" r="r" b="b"/>
            <a:pathLst>
              <a:path w="5675730" h="1215039">
                <a:moveTo>
                  <a:pt x="0" y="0"/>
                </a:moveTo>
                <a:lnTo>
                  <a:pt x="5609158" y="0"/>
                </a:lnTo>
                <a:cubicBezTo>
                  <a:pt x="5645924" y="0"/>
                  <a:pt x="5675730" y="29805"/>
                  <a:pt x="5675730" y="66572"/>
                </a:cubicBezTo>
                <a:lnTo>
                  <a:pt x="5675730" y="1148467"/>
                </a:lnTo>
                <a:cubicBezTo>
                  <a:pt x="5675730" y="1185234"/>
                  <a:pt x="5645924" y="1215039"/>
                  <a:pt x="5609158" y="1215039"/>
                </a:cubicBezTo>
                <a:lnTo>
                  <a:pt x="0" y="1215039"/>
                </a:lnTo>
                <a:lnTo>
                  <a:pt x="0" y="0"/>
                </a:lnTo>
                <a:close/>
              </a:path>
            </a:pathLst>
          </a:custGeom>
          <a:solidFill>
            <a:srgbClr val="C9A87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178702" y="5642441"/>
            <a:ext cx="33289" cy="1215039"/>
          </a:xfrm>
          <a:custGeom>
            <a:avLst/>
            <a:gdLst/>
            <a:ahLst/>
            <a:cxnLst/>
            <a:rect l="l" t="t" r="r" b="b"/>
            <a:pathLst>
              <a:path w="33289" h="1215039">
                <a:moveTo>
                  <a:pt x="0" y="0"/>
                </a:moveTo>
                <a:lnTo>
                  <a:pt x="33289" y="0"/>
                </a:lnTo>
                <a:lnTo>
                  <a:pt x="33289" y="1215039"/>
                </a:lnTo>
                <a:lnTo>
                  <a:pt x="0" y="1215039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30582" y="5817207"/>
            <a:ext cx="187249" cy="149799"/>
          </a:xfrm>
          <a:custGeom>
            <a:avLst/>
            <a:gdLst/>
            <a:ahLst/>
            <a:cxnLst/>
            <a:rect l="l" t="t" r="r" b="b"/>
            <a:pathLst>
              <a:path w="187249" h="149799">
                <a:moveTo>
                  <a:pt x="112349" y="9362"/>
                </a:moveTo>
                <a:lnTo>
                  <a:pt x="149799" y="9362"/>
                </a:lnTo>
                <a:cubicBezTo>
                  <a:pt x="154978" y="9362"/>
                  <a:pt x="159162" y="13546"/>
                  <a:pt x="159162" y="18725"/>
                </a:cubicBezTo>
                <a:cubicBezTo>
                  <a:pt x="159162" y="23904"/>
                  <a:pt x="154978" y="28087"/>
                  <a:pt x="149799" y="28087"/>
                </a:cubicBezTo>
                <a:lnTo>
                  <a:pt x="116563" y="28087"/>
                </a:lnTo>
                <a:cubicBezTo>
                  <a:pt x="115041" y="35636"/>
                  <a:pt x="109863" y="41868"/>
                  <a:pt x="102987" y="44852"/>
                </a:cubicBezTo>
                <a:lnTo>
                  <a:pt x="102987" y="131074"/>
                </a:lnTo>
                <a:lnTo>
                  <a:pt x="149799" y="131074"/>
                </a:lnTo>
                <a:cubicBezTo>
                  <a:pt x="154978" y="131074"/>
                  <a:pt x="159162" y="135258"/>
                  <a:pt x="159162" y="140437"/>
                </a:cubicBezTo>
                <a:cubicBezTo>
                  <a:pt x="159162" y="145615"/>
                  <a:pt x="154978" y="149799"/>
                  <a:pt x="149799" y="149799"/>
                </a:cubicBezTo>
                <a:lnTo>
                  <a:pt x="37450" y="149799"/>
                </a:lnTo>
                <a:cubicBezTo>
                  <a:pt x="32271" y="149799"/>
                  <a:pt x="28087" y="145615"/>
                  <a:pt x="28087" y="140437"/>
                </a:cubicBezTo>
                <a:cubicBezTo>
                  <a:pt x="28087" y="135258"/>
                  <a:pt x="32271" y="131074"/>
                  <a:pt x="37450" y="131074"/>
                </a:cubicBezTo>
                <a:lnTo>
                  <a:pt x="84262" y="131074"/>
                </a:lnTo>
                <a:lnTo>
                  <a:pt x="84262" y="44852"/>
                </a:lnTo>
                <a:cubicBezTo>
                  <a:pt x="77387" y="41838"/>
                  <a:pt x="72208" y="35607"/>
                  <a:pt x="70687" y="28087"/>
                </a:cubicBezTo>
                <a:lnTo>
                  <a:pt x="37450" y="28087"/>
                </a:lnTo>
                <a:cubicBezTo>
                  <a:pt x="32271" y="28087"/>
                  <a:pt x="28087" y="23904"/>
                  <a:pt x="28087" y="18725"/>
                </a:cubicBezTo>
                <a:cubicBezTo>
                  <a:pt x="28087" y="13546"/>
                  <a:pt x="32271" y="9362"/>
                  <a:pt x="37450" y="9362"/>
                </a:cubicBezTo>
                <a:lnTo>
                  <a:pt x="74900" y="9362"/>
                </a:lnTo>
                <a:cubicBezTo>
                  <a:pt x="79171" y="3686"/>
                  <a:pt x="85959" y="0"/>
                  <a:pt x="93625" y="0"/>
                </a:cubicBezTo>
                <a:cubicBezTo>
                  <a:pt x="101290" y="0"/>
                  <a:pt x="108078" y="3686"/>
                  <a:pt x="112349" y="9362"/>
                </a:cubicBezTo>
                <a:close/>
                <a:moveTo>
                  <a:pt x="128617" y="93625"/>
                </a:moveTo>
                <a:lnTo>
                  <a:pt x="170982" y="93625"/>
                </a:lnTo>
                <a:lnTo>
                  <a:pt x="149799" y="57287"/>
                </a:lnTo>
                <a:lnTo>
                  <a:pt x="128617" y="93625"/>
                </a:lnTo>
                <a:close/>
                <a:moveTo>
                  <a:pt x="149799" y="121712"/>
                </a:moveTo>
                <a:cubicBezTo>
                  <a:pt x="131396" y="121712"/>
                  <a:pt x="116094" y="111764"/>
                  <a:pt x="112935" y="98628"/>
                </a:cubicBezTo>
                <a:cubicBezTo>
                  <a:pt x="112174" y="95409"/>
                  <a:pt x="113227" y="92103"/>
                  <a:pt x="114895" y="89236"/>
                </a:cubicBezTo>
                <a:lnTo>
                  <a:pt x="142748" y="41487"/>
                </a:lnTo>
                <a:cubicBezTo>
                  <a:pt x="144211" y="38971"/>
                  <a:pt x="146903" y="37450"/>
                  <a:pt x="149799" y="37450"/>
                </a:cubicBezTo>
                <a:cubicBezTo>
                  <a:pt x="152696" y="37450"/>
                  <a:pt x="155388" y="39000"/>
                  <a:pt x="156850" y="41487"/>
                </a:cubicBezTo>
                <a:lnTo>
                  <a:pt x="184704" y="89236"/>
                </a:lnTo>
                <a:cubicBezTo>
                  <a:pt x="186371" y="92103"/>
                  <a:pt x="187425" y="95409"/>
                  <a:pt x="186664" y="98628"/>
                </a:cubicBezTo>
                <a:cubicBezTo>
                  <a:pt x="183504" y="111735"/>
                  <a:pt x="168202" y="121712"/>
                  <a:pt x="149799" y="121712"/>
                </a:cubicBezTo>
                <a:close/>
                <a:moveTo>
                  <a:pt x="37099" y="57287"/>
                </a:moveTo>
                <a:lnTo>
                  <a:pt x="15916" y="93625"/>
                </a:lnTo>
                <a:lnTo>
                  <a:pt x="58311" y="93625"/>
                </a:lnTo>
                <a:lnTo>
                  <a:pt x="37099" y="57287"/>
                </a:lnTo>
                <a:close/>
                <a:moveTo>
                  <a:pt x="263" y="98628"/>
                </a:moveTo>
                <a:cubicBezTo>
                  <a:pt x="-497" y="95409"/>
                  <a:pt x="556" y="92103"/>
                  <a:pt x="2224" y="89236"/>
                </a:cubicBezTo>
                <a:lnTo>
                  <a:pt x="30077" y="41487"/>
                </a:lnTo>
                <a:cubicBezTo>
                  <a:pt x="31540" y="38971"/>
                  <a:pt x="34231" y="37450"/>
                  <a:pt x="37128" y="37450"/>
                </a:cubicBezTo>
                <a:cubicBezTo>
                  <a:pt x="40025" y="37450"/>
                  <a:pt x="42716" y="39000"/>
                  <a:pt x="44179" y="41487"/>
                </a:cubicBezTo>
                <a:lnTo>
                  <a:pt x="72032" y="89236"/>
                </a:lnTo>
                <a:cubicBezTo>
                  <a:pt x="73700" y="92103"/>
                  <a:pt x="74753" y="95409"/>
                  <a:pt x="73993" y="98628"/>
                </a:cubicBezTo>
                <a:cubicBezTo>
                  <a:pt x="70833" y="111735"/>
                  <a:pt x="55531" y="121712"/>
                  <a:pt x="37128" y="121712"/>
                </a:cubicBezTo>
                <a:cubicBezTo>
                  <a:pt x="18725" y="121712"/>
                  <a:pt x="3423" y="111764"/>
                  <a:pt x="263" y="98628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19911" y="5775596"/>
            <a:ext cx="527626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Banks' Hybrid Approach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28501" y="6075195"/>
            <a:ext cx="5459353" cy="64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Banks similarly integrates: explicit grounding (rules), corpus analysis (statistics), and cognitive immersion (deep understanding) — demonstrating that true communication requires multiple complementary strategies.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928" y="378928"/>
            <a:ext cx="11500457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kern="0" spc="104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Solutions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8928" y="644177"/>
            <a:ext cx="11661501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NLP Tools &amp; Technologies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8928" y="1174676"/>
            <a:ext cx="11519403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Tools for the "Arrival" Challenge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3664" y="1596233"/>
            <a:ext cx="3704019" cy="2548289"/>
          </a:xfrm>
          <a:custGeom>
            <a:avLst/>
            <a:gdLst/>
            <a:ahLst/>
            <a:cxnLst/>
            <a:rect l="l" t="t" r="r" b="b"/>
            <a:pathLst>
              <a:path w="3704019" h="2548289">
                <a:moveTo>
                  <a:pt x="75786" y="0"/>
                </a:moveTo>
                <a:lnTo>
                  <a:pt x="3628233" y="0"/>
                </a:lnTo>
                <a:cubicBezTo>
                  <a:pt x="3670088" y="0"/>
                  <a:pt x="3704019" y="33931"/>
                  <a:pt x="3704019" y="75786"/>
                </a:cubicBezTo>
                <a:lnTo>
                  <a:pt x="3704019" y="2472503"/>
                </a:lnTo>
                <a:cubicBezTo>
                  <a:pt x="3704019" y="2514358"/>
                  <a:pt x="3670088" y="2548289"/>
                  <a:pt x="3628233" y="2548289"/>
                </a:cubicBezTo>
                <a:lnTo>
                  <a:pt x="75786" y="2548289"/>
                </a:lnTo>
                <a:cubicBezTo>
                  <a:pt x="33931" y="2548289"/>
                  <a:pt x="0" y="2514358"/>
                  <a:pt x="0" y="2472503"/>
                </a:cubicBezTo>
                <a:lnTo>
                  <a:pt x="0" y="75786"/>
                </a:lnTo>
                <a:cubicBezTo>
                  <a:pt x="0" y="33959"/>
                  <a:pt x="33959" y="0"/>
                  <a:pt x="7578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9972" y="1752541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35888" y="1856746"/>
            <a:ext cx="191832" cy="170517"/>
          </a:xfrm>
          <a:custGeom>
            <a:avLst/>
            <a:gdLst/>
            <a:ahLst/>
            <a:cxnLst/>
            <a:rect l="l" t="t" r="r" b="b"/>
            <a:pathLst>
              <a:path w="191832" h="170517">
                <a:moveTo>
                  <a:pt x="95916" y="10657"/>
                </a:moveTo>
                <a:cubicBezTo>
                  <a:pt x="69006" y="10657"/>
                  <a:pt x="47458" y="22913"/>
                  <a:pt x="31772" y="37501"/>
                </a:cubicBezTo>
                <a:cubicBezTo>
                  <a:pt x="16186" y="51988"/>
                  <a:pt x="5762" y="69273"/>
                  <a:pt x="799" y="81162"/>
                </a:cubicBezTo>
                <a:cubicBezTo>
                  <a:pt x="-300" y="83793"/>
                  <a:pt x="-300" y="86724"/>
                  <a:pt x="799" y="89355"/>
                </a:cubicBezTo>
                <a:cubicBezTo>
                  <a:pt x="5762" y="101245"/>
                  <a:pt x="16186" y="118563"/>
                  <a:pt x="31772" y="133017"/>
                </a:cubicBezTo>
                <a:cubicBezTo>
                  <a:pt x="47458" y="147571"/>
                  <a:pt x="69006" y="159860"/>
                  <a:pt x="95916" y="159860"/>
                </a:cubicBezTo>
                <a:cubicBezTo>
                  <a:pt x="122826" y="159860"/>
                  <a:pt x="144374" y="147604"/>
                  <a:pt x="160060" y="133017"/>
                </a:cubicBezTo>
                <a:cubicBezTo>
                  <a:pt x="175646" y="118530"/>
                  <a:pt x="186071" y="101245"/>
                  <a:pt x="191033" y="89355"/>
                </a:cubicBezTo>
                <a:cubicBezTo>
                  <a:pt x="192132" y="86724"/>
                  <a:pt x="192132" y="83793"/>
                  <a:pt x="191033" y="81162"/>
                </a:cubicBezTo>
                <a:cubicBezTo>
                  <a:pt x="186071" y="69273"/>
                  <a:pt x="175646" y="51955"/>
                  <a:pt x="160060" y="37501"/>
                </a:cubicBezTo>
                <a:cubicBezTo>
                  <a:pt x="144374" y="22947"/>
                  <a:pt x="122826" y="10657"/>
                  <a:pt x="95916" y="10657"/>
                </a:cubicBezTo>
                <a:close/>
                <a:moveTo>
                  <a:pt x="47958" y="85259"/>
                </a:moveTo>
                <a:cubicBezTo>
                  <a:pt x="47958" y="58790"/>
                  <a:pt x="69447" y="37301"/>
                  <a:pt x="95916" y="37301"/>
                </a:cubicBezTo>
                <a:cubicBezTo>
                  <a:pt x="122385" y="37301"/>
                  <a:pt x="143874" y="58790"/>
                  <a:pt x="143874" y="85259"/>
                </a:cubicBezTo>
                <a:cubicBezTo>
                  <a:pt x="143874" y="111728"/>
                  <a:pt x="122385" y="133217"/>
                  <a:pt x="95916" y="133217"/>
                </a:cubicBezTo>
                <a:cubicBezTo>
                  <a:pt x="69447" y="133217"/>
                  <a:pt x="47958" y="111728"/>
                  <a:pt x="47958" y="85259"/>
                </a:cubicBezTo>
                <a:close/>
                <a:moveTo>
                  <a:pt x="95916" y="63944"/>
                </a:moveTo>
                <a:cubicBezTo>
                  <a:pt x="95916" y="75700"/>
                  <a:pt x="86358" y="85259"/>
                  <a:pt x="74601" y="85259"/>
                </a:cubicBezTo>
                <a:cubicBezTo>
                  <a:pt x="70771" y="85259"/>
                  <a:pt x="67175" y="84260"/>
                  <a:pt x="64044" y="82461"/>
                </a:cubicBezTo>
                <a:cubicBezTo>
                  <a:pt x="63711" y="86091"/>
                  <a:pt x="64011" y="89821"/>
                  <a:pt x="65010" y="93518"/>
                </a:cubicBezTo>
                <a:cubicBezTo>
                  <a:pt x="69572" y="110570"/>
                  <a:pt x="87124" y="120694"/>
                  <a:pt x="104176" y="116132"/>
                </a:cubicBezTo>
                <a:cubicBezTo>
                  <a:pt x="121227" y="111569"/>
                  <a:pt x="131352" y="94018"/>
                  <a:pt x="126789" y="76966"/>
                </a:cubicBezTo>
                <a:cubicBezTo>
                  <a:pt x="122726" y="61746"/>
                  <a:pt x="108305" y="52054"/>
                  <a:pt x="93119" y="53387"/>
                </a:cubicBezTo>
                <a:cubicBezTo>
                  <a:pt x="94884" y="56484"/>
                  <a:pt x="95916" y="60081"/>
                  <a:pt x="95916" y="63944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2578" y="1809380"/>
            <a:ext cx="1856746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Vision + OCR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9972" y="2245147"/>
            <a:ext cx="3467189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analyzing and extracting Heptapod logograms from visual input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9972" y="2813538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3650" y="2851431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Tesseract OCR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9972" y="3116681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650" y="3154573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OpenCV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972" y="3419823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3650" y="3457716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YOLO Object Detection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9972" y="3722965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3650" y="3760858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Segment Anything (SAM)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45915" y="1596233"/>
            <a:ext cx="3704019" cy="2548289"/>
          </a:xfrm>
          <a:custGeom>
            <a:avLst/>
            <a:gdLst/>
            <a:ahLst/>
            <a:cxnLst/>
            <a:rect l="l" t="t" r="r" b="b"/>
            <a:pathLst>
              <a:path w="3704019" h="2548289">
                <a:moveTo>
                  <a:pt x="75786" y="0"/>
                </a:moveTo>
                <a:lnTo>
                  <a:pt x="3628233" y="0"/>
                </a:lnTo>
                <a:cubicBezTo>
                  <a:pt x="3670088" y="0"/>
                  <a:pt x="3704019" y="33931"/>
                  <a:pt x="3704019" y="75786"/>
                </a:cubicBezTo>
                <a:lnTo>
                  <a:pt x="3704019" y="2472503"/>
                </a:lnTo>
                <a:cubicBezTo>
                  <a:pt x="3704019" y="2514358"/>
                  <a:pt x="3670088" y="2548289"/>
                  <a:pt x="3628233" y="2548289"/>
                </a:cubicBezTo>
                <a:lnTo>
                  <a:pt x="75786" y="2548289"/>
                </a:lnTo>
                <a:cubicBezTo>
                  <a:pt x="33931" y="2548289"/>
                  <a:pt x="0" y="2514358"/>
                  <a:pt x="0" y="2472503"/>
                </a:cubicBezTo>
                <a:lnTo>
                  <a:pt x="0" y="75786"/>
                </a:lnTo>
                <a:cubicBezTo>
                  <a:pt x="0" y="33959"/>
                  <a:pt x="33959" y="0"/>
                  <a:pt x="7578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02223" y="1752541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08796" y="1856746"/>
            <a:ext cx="170517" cy="170517"/>
          </a:xfrm>
          <a:custGeom>
            <a:avLst/>
            <a:gdLst/>
            <a:ahLst/>
            <a:cxnLst/>
            <a:rect l="l" t="t" r="r" b="b"/>
            <a:pathLst>
              <a:path w="170517" h="170517">
                <a:moveTo>
                  <a:pt x="39965" y="18650"/>
                </a:moveTo>
                <a:cubicBezTo>
                  <a:pt x="39965" y="8359"/>
                  <a:pt x="48324" y="0"/>
                  <a:pt x="58615" y="0"/>
                </a:cubicBezTo>
                <a:lnTo>
                  <a:pt x="66608" y="0"/>
                </a:lnTo>
                <a:cubicBezTo>
                  <a:pt x="72503" y="0"/>
                  <a:pt x="77266" y="4763"/>
                  <a:pt x="77266" y="10657"/>
                </a:cubicBezTo>
                <a:lnTo>
                  <a:pt x="77266" y="159860"/>
                </a:lnTo>
                <a:cubicBezTo>
                  <a:pt x="77266" y="165755"/>
                  <a:pt x="72503" y="170517"/>
                  <a:pt x="66608" y="170517"/>
                </a:cubicBezTo>
                <a:lnTo>
                  <a:pt x="55951" y="170517"/>
                </a:lnTo>
                <a:cubicBezTo>
                  <a:pt x="46026" y="170517"/>
                  <a:pt x="37667" y="163723"/>
                  <a:pt x="35302" y="154531"/>
                </a:cubicBezTo>
                <a:cubicBezTo>
                  <a:pt x="35069" y="154531"/>
                  <a:pt x="34869" y="154531"/>
                  <a:pt x="34636" y="154531"/>
                </a:cubicBezTo>
                <a:cubicBezTo>
                  <a:pt x="19916" y="154531"/>
                  <a:pt x="7993" y="142609"/>
                  <a:pt x="7993" y="127888"/>
                </a:cubicBezTo>
                <a:cubicBezTo>
                  <a:pt x="7993" y="121893"/>
                  <a:pt x="9991" y="116365"/>
                  <a:pt x="13322" y="111902"/>
                </a:cubicBezTo>
                <a:cubicBezTo>
                  <a:pt x="6861" y="107040"/>
                  <a:pt x="2664" y="99313"/>
                  <a:pt x="2664" y="90587"/>
                </a:cubicBezTo>
                <a:cubicBezTo>
                  <a:pt x="2664" y="80296"/>
                  <a:pt x="8526" y="71338"/>
                  <a:pt x="17052" y="66908"/>
                </a:cubicBezTo>
                <a:cubicBezTo>
                  <a:pt x="14687" y="62912"/>
                  <a:pt x="13322" y="58249"/>
                  <a:pt x="13322" y="53287"/>
                </a:cubicBezTo>
                <a:cubicBezTo>
                  <a:pt x="13322" y="38566"/>
                  <a:pt x="25245" y="26643"/>
                  <a:pt x="39965" y="26643"/>
                </a:cubicBezTo>
                <a:lnTo>
                  <a:pt x="39965" y="18650"/>
                </a:lnTo>
                <a:close/>
                <a:moveTo>
                  <a:pt x="130552" y="18650"/>
                </a:moveTo>
                <a:lnTo>
                  <a:pt x="130552" y="26643"/>
                </a:lnTo>
                <a:cubicBezTo>
                  <a:pt x="145273" y="26643"/>
                  <a:pt x="157196" y="38566"/>
                  <a:pt x="157196" y="53287"/>
                </a:cubicBezTo>
                <a:cubicBezTo>
                  <a:pt x="157196" y="58282"/>
                  <a:pt x="155830" y="62945"/>
                  <a:pt x="153466" y="66908"/>
                </a:cubicBezTo>
                <a:cubicBezTo>
                  <a:pt x="162025" y="71338"/>
                  <a:pt x="167853" y="80263"/>
                  <a:pt x="167853" y="90587"/>
                </a:cubicBezTo>
                <a:cubicBezTo>
                  <a:pt x="167853" y="99313"/>
                  <a:pt x="163657" y="107040"/>
                  <a:pt x="157196" y="111902"/>
                </a:cubicBezTo>
                <a:cubicBezTo>
                  <a:pt x="160526" y="116365"/>
                  <a:pt x="162524" y="121893"/>
                  <a:pt x="162524" y="127888"/>
                </a:cubicBezTo>
                <a:cubicBezTo>
                  <a:pt x="162524" y="142609"/>
                  <a:pt x="150602" y="154531"/>
                  <a:pt x="135881" y="154531"/>
                </a:cubicBezTo>
                <a:cubicBezTo>
                  <a:pt x="135648" y="154531"/>
                  <a:pt x="135448" y="154531"/>
                  <a:pt x="135215" y="154531"/>
                </a:cubicBezTo>
                <a:cubicBezTo>
                  <a:pt x="132850" y="163723"/>
                  <a:pt x="124491" y="170517"/>
                  <a:pt x="114566" y="170517"/>
                </a:cubicBezTo>
                <a:lnTo>
                  <a:pt x="103909" y="170517"/>
                </a:lnTo>
                <a:cubicBezTo>
                  <a:pt x="98014" y="170517"/>
                  <a:pt x="93252" y="165755"/>
                  <a:pt x="93252" y="159860"/>
                </a:cubicBezTo>
                <a:lnTo>
                  <a:pt x="93252" y="10657"/>
                </a:lnTo>
                <a:cubicBezTo>
                  <a:pt x="93252" y="4763"/>
                  <a:pt x="98014" y="0"/>
                  <a:pt x="103909" y="0"/>
                </a:cubicBezTo>
                <a:lnTo>
                  <a:pt x="111902" y="0"/>
                </a:lnTo>
                <a:cubicBezTo>
                  <a:pt x="122193" y="0"/>
                  <a:pt x="130552" y="8359"/>
                  <a:pt x="130552" y="1865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4829" y="1809380"/>
            <a:ext cx="1420979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 Models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02223" y="2245147"/>
            <a:ext cx="3467189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pattern recognition and semantic understanding from minimal examples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02223" y="2813538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15901" y="2851431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GPT-4 / GPT-4o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02223" y="3116681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15901" y="3154573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Claude (Anthropic)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02223" y="3419823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15901" y="3457716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BERT / RoBERTa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02223" y="3722965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15901" y="3760858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T5 / PaLM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08166" y="1596233"/>
            <a:ext cx="3704019" cy="2548289"/>
          </a:xfrm>
          <a:custGeom>
            <a:avLst/>
            <a:gdLst/>
            <a:ahLst/>
            <a:cxnLst/>
            <a:rect l="l" t="t" r="r" b="b"/>
            <a:pathLst>
              <a:path w="3704019" h="2548289">
                <a:moveTo>
                  <a:pt x="75786" y="0"/>
                </a:moveTo>
                <a:lnTo>
                  <a:pt x="3628233" y="0"/>
                </a:lnTo>
                <a:cubicBezTo>
                  <a:pt x="3670088" y="0"/>
                  <a:pt x="3704019" y="33931"/>
                  <a:pt x="3704019" y="75786"/>
                </a:cubicBezTo>
                <a:lnTo>
                  <a:pt x="3704019" y="2472503"/>
                </a:lnTo>
                <a:cubicBezTo>
                  <a:pt x="3704019" y="2514358"/>
                  <a:pt x="3670088" y="2548289"/>
                  <a:pt x="3628233" y="2548289"/>
                </a:cubicBezTo>
                <a:lnTo>
                  <a:pt x="75786" y="2548289"/>
                </a:lnTo>
                <a:cubicBezTo>
                  <a:pt x="33931" y="2548289"/>
                  <a:pt x="0" y="2514358"/>
                  <a:pt x="0" y="2472503"/>
                </a:cubicBezTo>
                <a:lnTo>
                  <a:pt x="0" y="75786"/>
                </a:lnTo>
                <a:cubicBezTo>
                  <a:pt x="0" y="33959"/>
                  <a:pt x="33959" y="0"/>
                  <a:pt x="7578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64473" y="1752541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371047" y="1856746"/>
            <a:ext cx="170517" cy="170517"/>
          </a:xfrm>
          <a:custGeom>
            <a:avLst/>
            <a:gdLst/>
            <a:ahLst/>
            <a:cxnLst/>
            <a:rect l="l" t="t" r="r" b="b"/>
            <a:pathLst>
              <a:path w="170517" h="170517">
                <a:moveTo>
                  <a:pt x="77432" y="1732"/>
                </a:moveTo>
                <a:cubicBezTo>
                  <a:pt x="82395" y="-566"/>
                  <a:pt x="88123" y="-566"/>
                  <a:pt x="93085" y="1732"/>
                </a:cubicBezTo>
                <a:lnTo>
                  <a:pt x="165888" y="35369"/>
                </a:lnTo>
                <a:cubicBezTo>
                  <a:pt x="168719" y="36668"/>
                  <a:pt x="170517" y="39499"/>
                  <a:pt x="170517" y="42629"/>
                </a:cubicBezTo>
                <a:cubicBezTo>
                  <a:pt x="170517" y="45760"/>
                  <a:pt x="168719" y="48591"/>
                  <a:pt x="165888" y="49890"/>
                </a:cubicBezTo>
                <a:lnTo>
                  <a:pt x="93085" y="83527"/>
                </a:lnTo>
                <a:cubicBezTo>
                  <a:pt x="88123" y="85825"/>
                  <a:pt x="82395" y="85825"/>
                  <a:pt x="77432" y="83527"/>
                </a:cubicBezTo>
                <a:lnTo>
                  <a:pt x="4629" y="49890"/>
                </a:lnTo>
                <a:cubicBezTo>
                  <a:pt x="1798" y="48558"/>
                  <a:pt x="0" y="45727"/>
                  <a:pt x="0" y="42629"/>
                </a:cubicBezTo>
                <a:cubicBezTo>
                  <a:pt x="0" y="39532"/>
                  <a:pt x="1798" y="36668"/>
                  <a:pt x="4629" y="35369"/>
                </a:cubicBezTo>
                <a:lnTo>
                  <a:pt x="77432" y="1732"/>
                </a:lnTo>
                <a:close/>
                <a:moveTo>
                  <a:pt x="16019" y="72736"/>
                </a:moveTo>
                <a:lnTo>
                  <a:pt x="70738" y="98014"/>
                </a:lnTo>
                <a:cubicBezTo>
                  <a:pt x="79963" y="102277"/>
                  <a:pt x="90587" y="102277"/>
                  <a:pt x="99813" y="98014"/>
                </a:cubicBezTo>
                <a:lnTo>
                  <a:pt x="154531" y="72736"/>
                </a:lnTo>
                <a:lnTo>
                  <a:pt x="165888" y="77998"/>
                </a:lnTo>
                <a:cubicBezTo>
                  <a:pt x="168719" y="79297"/>
                  <a:pt x="170517" y="82128"/>
                  <a:pt x="170517" y="85259"/>
                </a:cubicBezTo>
                <a:cubicBezTo>
                  <a:pt x="170517" y="88389"/>
                  <a:pt x="168719" y="91220"/>
                  <a:pt x="165888" y="92519"/>
                </a:cubicBezTo>
                <a:lnTo>
                  <a:pt x="93085" y="126156"/>
                </a:lnTo>
                <a:cubicBezTo>
                  <a:pt x="88123" y="128454"/>
                  <a:pt x="82395" y="128454"/>
                  <a:pt x="77432" y="126156"/>
                </a:cubicBezTo>
                <a:lnTo>
                  <a:pt x="4629" y="92519"/>
                </a:lnTo>
                <a:cubicBezTo>
                  <a:pt x="1798" y="91187"/>
                  <a:pt x="0" y="88356"/>
                  <a:pt x="0" y="85259"/>
                </a:cubicBezTo>
                <a:cubicBezTo>
                  <a:pt x="0" y="82161"/>
                  <a:pt x="1798" y="79297"/>
                  <a:pt x="4629" y="77998"/>
                </a:cubicBezTo>
                <a:lnTo>
                  <a:pt x="15986" y="72736"/>
                </a:lnTo>
                <a:close/>
                <a:moveTo>
                  <a:pt x="4629" y="120628"/>
                </a:moveTo>
                <a:lnTo>
                  <a:pt x="15986" y="115366"/>
                </a:lnTo>
                <a:lnTo>
                  <a:pt x="70705" y="140644"/>
                </a:lnTo>
                <a:cubicBezTo>
                  <a:pt x="79930" y="144907"/>
                  <a:pt x="90554" y="144907"/>
                  <a:pt x="99779" y="140644"/>
                </a:cubicBezTo>
                <a:lnTo>
                  <a:pt x="154498" y="115366"/>
                </a:lnTo>
                <a:lnTo>
                  <a:pt x="165855" y="120628"/>
                </a:lnTo>
                <a:cubicBezTo>
                  <a:pt x="168686" y="121927"/>
                  <a:pt x="170484" y="124758"/>
                  <a:pt x="170484" y="127888"/>
                </a:cubicBezTo>
                <a:cubicBezTo>
                  <a:pt x="170484" y="131019"/>
                  <a:pt x="168686" y="133850"/>
                  <a:pt x="165855" y="135148"/>
                </a:cubicBezTo>
                <a:lnTo>
                  <a:pt x="93052" y="168786"/>
                </a:lnTo>
                <a:cubicBezTo>
                  <a:pt x="88090" y="171084"/>
                  <a:pt x="82361" y="171084"/>
                  <a:pt x="77399" y="168786"/>
                </a:cubicBezTo>
                <a:lnTo>
                  <a:pt x="4629" y="135148"/>
                </a:lnTo>
                <a:cubicBezTo>
                  <a:pt x="1798" y="133816"/>
                  <a:pt x="0" y="130985"/>
                  <a:pt x="0" y="127888"/>
                </a:cubicBezTo>
                <a:cubicBezTo>
                  <a:pt x="0" y="124791"/>
                  <a:pt x="1798" y="121927"/>
                  <a:pt x="4629" y="120628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757079" y="1809380"/>
            <a:ext cx="1127310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 AI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64473" y="2245147"/>
            <a:ext cx="3467189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Connecting visual symbols to linguistic meaning across modalities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64473" y="2813538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78152" y="2851431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CLIP (OpenAI)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64473" y="3116681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378152" y="3154573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Flamingo (DeepMind)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64473" y="3419823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378152" y="3457716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GPT-4V (Vision)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64473" y="3722965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378152" y="3760858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DALL-E / Midjourney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3664" y="4305566"/>
            <a:ext cx="3704019" cy="2548289"/>
          </a:xfrm>
          <a:custGeom>
            <a:avLst/>
            <a:gdLst/>
            <a:ahLst/>
            <a:cxnLst/>
            <a:rect l="l" t="t" r="r" b="b"/>
            <a:pathLst>
              <a:path w="3704019" h="2548289">
                <a:moveTo>
                  <a:pt x="75786" y="0"/>
                </a:moveTo>
                <a:lnTo>
                  <a:pt x="3628233" y="0"/>
                </a:lnTo>
                <a:cubicBezTo>
                  <a:pt x="3670088" y="0"/>
                  <a:pt x="3704019" y="33931"/>
                  <a:pt x="3704019" y="75786"/>
                </a:cubicBezTo>
                <a:lnTo>
                  <a:pt x="3704019" y="2472503"/>
                </a:lnTo>
                <a:cubicBezTo>
                  <a:pt x="3704019" y="2514358"/>
                  <a:pt x="3670088" y="2548289"/>
                  <a:pt x="3628233" y="2548289"/>
                </a:cubicBezTo>
                <a:lnTo>
                  <a:pt x="75786" y="2548289"/>
                </a:lnTo>
                <a:cubicBezTo>
                  <a:pt x="33931" y="2548289"/>
                  <a:pt x="0" y="2514358"/>
                  <a:pt x="0" y="2472503"/>
                </a:cubicBezTo>
                <a:lnTo>
                  <a:pt x="0" y="75786"/>
                </a:lnTo>
                <a:cubicBezTo>
                  <a:pt x="0" y="33959"/>
                  <a:pt x="33959" y="0"/>
                  <a:pt x="7578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39972" y="4461874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35888" y="4566079"/>
            <a:ext cx="191832" cy="170517"/>
          </a:xfrm>
          <a:custGeom>
            <a:avLst/>
            <a:gdLst/>
            <a:ahLst/>
            <a:cxnLst/>
            <a:rect l="l" t="t" r="r" b="b"/>
            <a:pathLst>
              <a:path w="191832" h="170517">
                <a:moveTo>
                  <a:pt x="53287" y="0"/>
                </a:moveTo>
                <a:cubicBezTo>
                  <a:pt x="59182" y="0"/>
                  <a:pt x="63944" y="4763"/>
                  <a:pt x="63944" y="10657"/>
                </a:cubicBezTo>
                <a:lnTo>
                  <a:pt x="63944" y="21315"/>
                </a:lnTo>
                <a:lnTo>
                  <a:pt x="106573" y="21315"/>
                </a:lnTo>
                <a:cubicBezTo>
                  <a:pt x="112468" y="21315"/>
                  <a:pt x="117231" y="26077"/>
                  <a:pt x="117231" y="31972"/>
                </a:cubicBezTo>
                <a:cubicBezTo>
                  <a:pt x="117231" y="37867"/>
                  <a:pt x="112468" y="42629"/>
                  <a:pt x="106573" y="42629"/>
                </a:cubicBezTo>
                <a:lnTo>
                  <a:pt x="103376" y="42629"/>
                </a:lnTo>
                <a:lnTo>
                  <a:pt x="100579" y="50323"/>
                </a:lnTo>
                <a:cubicBezTo>
                  <a:pt x="95117" y="65376"/>
                  <a:pt x="86891" y="79131"/>
                  <a:pt x="76533" y="90954"/>
                </a:cubicBezTo>
                <a:cubicBezTo>
                  <a:pt x="81262" y="93885"/>
                  <a:pt x="86191" y="96482"/>
                  <a:pt x="91320" y="98780"/>
                </a:cubicBezTo>
                <a:lnTo>
                  <a:pt x="108105" y="106240"/>
                </a:lnTo>
                <a:lnTo>
                  <a:pt x="128821" y="59615"/>
                </a:lnTo>
                <a:cubicBezTo>
                  <a:pt x="130519" y="55751"/>
                  <a:pt x="134349" y="53287"/>
                  <a:pt x="138545" y="53287"/>
                </a:cubicBezTo>
                <a:cubicBezTo>
                  <a:pt x="142742" y="53287"/>
                  <a:pt x="146572" y="55751"/>
                  <a:pt x="148270" y="59615"/>
                </a:cubicBezTo>
                <a:lnTo>
                  <a:pt x="190900" y="155531"/>
                </a:lnTo>
                <a:cubicBezTo>
                  <a:pt x="193298" y="160926"/>
                  <a:pt x="190866" y="167220"/>
                  <a:pt x="185504" y="169585"/>
                </a:cubicBezTo>
                <a:cubicBezTo>
                  <a:pt x="180142" y="171950"/>
                  <a:pt x="173815" y="169552"/>
                  <a:pt x="171450" y="164190"/>
                </a:cubicBezTo>
                <a:lnTo>
                  <a:pt x="164789" y="149203"/>
                </a:lnTo>
                <a:lnTo>
                  <a:pt x="112335" y="149203"/>
                </a:lnTo>
                <a:lnTo>
                  <a:pt x="105674" y="164190"/>
                </a:lnTo>
                <a:cubicBezTo>
                  <a:pt x="103276" y="169585"/>
                  <a:pt x="96982" y="171983"/>
                  <a:pt x="91620" y="169585"/>
                </a:cubicBezTo>
                <a:cubicBezTo>
                  <a:pt x="86258" y="167187"/>
                  <a:pt x="83827" y="160893"/>
                  <a:pt x="86225" y="155531"/>
                </a:cubicBezTo>
                <a:lnTo>
                  <a:pt x="99480" y="125723"/>
                </a:lnTo>
                <a:lnTo>
                  <a:pt x="82694" y="118263"/>
                </a:lnTo>
                <a:cubicBezTo>
                  <a:pt x="75034" y="114866"/>
                  <a:pt x="67707" y="110803"/>
                  <a:pt x="60780" y="106140"/>
                </a:cubicBezTo>
                <a:cubicBezTo>
                  <a:pt x="53686" y="111869"/>
                  <a:pt x="45926" y="116864"/>
                  <a:pt x="37634" y="121027"/>
                </a:cubicBezTo>
                <a:lnTo>
                  <a:pt x="26077" y="126756"/>
                </a:lnTo>
                <a:cubicBezTo>
                  <a:pt x="20815" y="129387"/>
                  <a:pt x="14421" y="127255"/>
                  <a:pt x="11790" y="121993"/>
                </a:cubicBezTo>
                <a:cubicBezTo>
                  <a:pt x="9159" y="116731"/>
                  <a:pt x="11290" y="110337"/>
                  <a:pt x="16552" y="107706"/>
                </a:cubicBezTo>
                <a:lnTo>
                  <a:pt x="28042" y="101944"/>
                </a:lnTo>
                <a:cubicBezTo>
                  <a:pt x="33471" y="99213"/>
                  <a:pt x="38633" y="96049"/>
                  <a:pt x="43495" y="92519"/>
                </a:cubicBezTo>
                <a:cubicBezTo>
                  <a:pt x="38899" y="88289"/>
                  <a:pt x="34570" y="83727"/>
                  <a:pt x="30540" y="78898"/>
                </a:cubicBezTo>
                <a:lnTo>
                  <a:pt x="27176" y="74835"/>
                </a:lnTo>
                <a:cubicBezTo>
                  <a:pt x="23413" y="70305"/>
                  <a:pt x="24012" y="63578"/>
                  <a:pt x="28542" y="59814"/>
                </a:cubicBezTo>
                <a:cubicBezTo>
                  <a:pt x="33071" y="56051"/>
                  <a:pt x="39799" y="56650"/>
                  <a:pt x="43562" y="61180"/>
                </a:cubicBezTo>
                <a:lnTo>
                  <a:pt x="46959" y="65243"/>
                </a:lnTo>
                <a:cubicBezTo>
                  <a:pt x="50789" y="69872"/>
                  <a:pt x="54985" y="74168"/>
                  <a:pt x="59415" y="78132"/>
                </a:cubicBezTo>
                <a:cubicBezTo>
                  <a:pt x="68573" y="68007"/>
                  <a:pt x="75800" y="56118"/>
                  <a:pt x="80563" y="43029"/>
                </a:cubicBezTo>
                <a:lnTo>
                  <a:pt x="80729" y="42629"/>
                </a:lnTo>
                <a:lnTo>
                  <a:pt x="10691" y="42629"/>
                </a:lnTo>
                <a:cubicBezTo>
                  <a:pt x="4763" y="42629"/>
                  <a:pt x="0" y="37867"/>
                  <a:pt x="0" y="31972"/>
                </a:cubicBezTo>
                <a:cubicBezTo>
                  <a:pt x="0" y="26077"/>
                  <a:pt x="4763" y="21315"/>
                  <a:pt x="10657" y="21315"/>
                </a:cubicBezTo>
                <a:lnTo>
                  <a:pt x="42629" y="21315"/>
                </a:lnTo>
                <a:lnTo>
                  <a:pt x="42629" y="10657"/>
                </a:lnTo>
                <a:cubicBezTo>
                  <a:pt x="42629" y="4763"/>
                  <a:pt x="47392" y="0"/>
                  <a:pt x="53287" y="0"/>
                </a:cubicBezTo>
                <a:close/>
                <a:moveTo>
                  <a:pt x="138545" y="90188"/>
                </a:moveTo>
                <a:lnTo>
                  <a:pt x="121793" y="127888"/>
                </a:lnTo>
                <a:lnTo>
                  <a:pt x="155297" y="127888"/>
                </a:lnTo>
                <a:lnTo>
                  <a:pt x="138545" y="90188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32578" y="4518713"/>
            <a:ext cx="1610443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Translation Systems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9972" y="4954480"/>
            <a:ext cx="3467189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Mapping between different linguistic structures and representations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39972" y="5522872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3650" y="5560765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Translate (NMT)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39972" y="5826014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53650" y="5863907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DeepL Translator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39972" y="6129156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53650" y="6167049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 NLLB (200+ languages)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39972" y="6432298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53650" y="6470191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M2M-100 (Many-to-Many)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45915" y="4305566"/>
            <a:ext cx="3704019" cy="2548289"/>
          </a:xfrm>
          <a:custGeom>
            <a:avLst/>
            <a:gdLst/>
            <a:ahLst/>
            <a:cxnLst/>
            <a:rect l="l" t="t" r="r" b="b"/>
            <a:pathLst>
              <a:path w="3704019" h="2548289">
                <a:moveTo>
                  <a:pt x="75786" y="0"/>
                </a:moveTo>
                <a:lnTo>
                  <a:pt x="3628233" y="0"/>
                </a:lnTo>
                <a:cubicBezTo>
                  <a:pt x="3670088" y="0"/>
                  <a:pt x="3704019" y="33931"/>
                  <a:pt x="3704019" y="75786"/>
                </a:cubicBezTo>
                <a:lnTo>
                  <a:pt x="3704019" y="2472503"/>
                </a:lnTo>
                <a:cubicBezTo>
                  <a:pt x="3704019" y="2514358"/>
                  <a:pt x="3670088" y="2548289"/>
                  <a:pt x="3628233" y="2548289"/>
                </a:cubicBezTo>
                <a:lnTo>
                  <a:pt x="75786" y="2548289"/>
                </a:lnTo>
                <a:cubicBezTo>
                  <a:pt x="33931" y="2548289"/>
                  <a:pt x="0" y="2514358"/>
                  <a:pt x="0" y="2472503"/>
                </a:cubicBezTo>
                <a:lnTo>
                  <a:pt x="0" y="75786"/>
                </a:lnTo>
                <a:cubicBezTo>
                  <a:pt x="0" y="33959"/>
                  <a:pt x="33959" y="0"/>
                  <a:pt x="7578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402223" y="4461874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530111" y="4566079"/>
            <a:ext cx="127888" cy="170517"/>
          </a:xfrm>
          <a:custGeom>
            <a:avLst/>
            <a:gdLst/>
            <a:ahLst/>
            <a:cxnLst/>
            <a:rect l="l" t="t" r="r" b="b"/>
            <a:pathLst>
              <a:path w="127888" h="170517">
                <a:moveTo>
                  <a:pt x="63944" y="0"/>
                </a:moveTo>
                <a:cubicBezTo>
                  <a:pt x="46293" y="0"/>
                  <a:pt x="31972" y="14321"/>
                  <a:pt x="31972" y="31972"/>
                </a:cubicBezTo>
                <a:lnTo>
                  <a:pt x="31972" y="74601"/>
                </a:lnTo>
                <a:cubicBezTo>
                  <a:pt x="31972" y="92253"/>
                  <a:pt x="46293" y="106573"/>
                  <a:pt x="63944" y="106573"/>
                </a:cubicBezTo>
                <a:cubicBezTo>
                  <a:pt x="81595" y="106573"/>
                  <a:pt x="95916" y="92253"/>
                  <a:pt x="95916" y="74601"/>
                </a:cubicBezTo>
                <a:lnTo>
                  <a:pt x="95916" y="31972"/>
                </a:lnTo>
                <a:cubicBezTo>
                  <a:pt x="95916" y="14321"/>
                  <a:pt x="81595" y="0"/>
                  <a:pt x="63944" y="0"/>
                </a:cubicBezTo>
                <a:close/>
                <a:moveTo>
                  <a:pt x="15986" y="61280"/>
                </a:moveTo>
                <a:cubicBezTo>
                  <a:pt x="15986" y="56850"/>
                  <a:pt x="12422" y="53287"/>
                  <a:pt x="7993" y="53287"/>
                </a:cubicBezTo>
                <a:cubicBezTo>
                  <a:pt x="3564" y="53287"/>
                  <a:pt x="0" y="56850"/>
                  <a:pt x="0" y="61280"/>
                </a:cubicBezTo>
                <a:lnTo>
                  <a:pt x="0" y="74601"/>
                </a:lnTo>
                <a:cubicBezTo>
                  <a:pt x="0" y="107206"/>
                  <a:pt x="24412" y="134116"/>
                  <a:pt x="55951" y="138046"/>
                </a:cubicBezTo>
                <a:lnTo>
                  <a:pt x="55951" y="154531"/>
                </a:lnTo>
                <a:lnTo>
                  <a:pt x="39965" y="154531"/>
                </a:lnTo>
                <a:cubicBezTo>
                  <a:pt x="35536" y="154531"/>
                  <a:pt x="31972" y="158095"/>
                  <a:pt x="31972" y="162524"/>
                </a:cubicBezTo>
                <a:cubicBezTo>
                  <a:pt x="31972" y="166954"/>
                  <a:pt x="35536" y="170517"/>
                  <a:pt x="39965" y="170517"/>
                </a:cubicBezTo>
                <a:lnTo>
                  <a:pt x="87923" y="170517"/>
                </a:lnTo>
                <a:cubicBezTo>
                  <a:pt x="92353" y="170517"/>
                  <a:pt x="95916" y="166954"/>
                  <a:pt x="95916" y="162524"/>
                </a:cubicBezTo>
                <a:cubicBezTo>
                  <a:pt x="95916" y="158095"/>
                  <a:pt x="92353" y="154531"/>
                  <a:pt x="87923" y="154531"/>
                </a:cubicBezTo>
                <a:lnTo>
                  <a:pt x="71937" y="154531"/>
                </a:lnTo>
                <a:lnTo>
                  <a:pt x="71937" y="138046"/>
                </a:lnTo>
                <a:cubicBezTo>
                  <a:pt x="103476" y="134116"/>
                  <a:pt x="127888" y="107206"/>
                  <a:pt x="127888" y="74601"/>
                </a:cubicBezTo>
                <a:lnTo>
                  <a:pt x="127888" y="61280"/>
                </a:lnTo>
                <a:cubicBezTo>
                  <a:pt x="127888" y="56850"/>
                  <a:pt x="124325" y="53287"/>
                  <a:pt x="119895" y="53287"/>
                </a:cubicBezTo>
                <a:cubicBezTo>
                  <a:pt x="115466" y="53287"/>
                  <a:pt x="111902" y="56850"/>
                  <a:pt x="111902" y="61280"/>
                </a:cubicBezTo>
                <a:lnTo>
                  <a:pt x="111902" y="74601"/>
                </a:lnTo>
                <a:cubicBezTo>
                  <a:pt x="111902" y="101078"/>
                  <a:pt x="90421" y="122559"/>
                  <a:pt x="63944" y="122559"/>
                </a:cubicBezTo>
                <a:cubicBezTo>
                  <a:pt x="37467" y="122559"/>
                  <a:pt x="15986" y="101078"/>
                  <a:pt x="15986" y="74601"/>
                </a:cubicBezTo>
                <a:lnTo>
                  <a:pt x="15986" y="61280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894829" y="4518713"/>
            <a:ext cx="1525184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 Processing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402223" y="4954480"/>
            <a:ext cx="3467189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analyzing Heptapod A (spoken language) and audio signals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402223" y="5522872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515901" y="5560765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Whisper (OpenAI)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402223" y="5826014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515901" y="5863907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wav2vec 2.0 (Meta)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402223" y="6129156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515901" y="6167049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Cloud Speech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402223" y="6432298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515901" y="6470191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Phonetic Analysis Tools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108166" y="4305566"/>
            <a:ext cx="3704019" cy="2548289"/>
          </a:xfrm>
          <a:custGeom>
            <a:avLst/>
            <a:gdLst/>
            <a:ahLst/>
            <a:cxnLst/>
            <a:rect l="l" t="t" r="r" b="b"/>
            <a:pathLst>
              <a:path w="3704019" h="2548289">
                <a:moveTo>
                  <a:pt x="75786" y="0"/>
                </a:moveTo>
                <a:lnTo>
                  <a:pt x="3628233" y="0"/>
                </a:lnTo>
                <a:cubicBezTo>
                  <a:pt x="3670088" y="0"/>
                  <a:pt x="3704019" y="33931"/>
                  <a:pt x="3704019" y="75786"/>
                </a:cubicBezTo>
                <a:lnTo>
                  <a:pt x="3704019" y="2472503"/>
                </a:lnTo>
                <a:cubicBezTo>
                  <a:pt x="3704019" y="2514358"/>
                  <a:pt x="3670088" y="2548289"/>
                  <a:pt x="3628233" y="2548289"/>
                </a:cubicBezTo>
                <a:lnTo>
                  <a:pt x="75786" y="2548289"/>
                </a:lnTo>
                <a:cubicBezTo>
                  <a:pt x="33931" y="2548289"/>
                  <a:pt x="0" y="2514358"/>
                  <a:pt x="0" y="2472503"/>
                </a:cubicBezTo>
                <a:lnTo>
                  <a:pt x="0" y="75786"/>
                </a:lnTo>
                <a:cubicBezTo>
                  <a:pt x="0" y="33959"/>
                  <a:pt x="33959" y="0"/>
                  <a:pt x="7578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8264473" y="4461874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8371047" y="4566079"/>
            <a:ext cx="170517" cy="170517"/>
          </a:xfrm>
          <a:custGeom>
            <a:avLst/>
            <a:gdLst/>
            <a:ahLst/>
            <a:cxnLst/>
            <a:rect l="l" t="t" r="r" b="b"/>
            <a:pathLst>
              <a:path w="170517" h="170517">
                <a:moveTo>
                  <a:pt x="0" y="26643"/>
                </a:moveTo>
                <a:cubicBezTo>
                  <a:pt x="0" y="17818"/>
                  <a:pt x="7160" y="10657"/>
                  <a:pt x="15986" y="10657"/>
                </a:cubicBezTo>
                <a:lnTo>
                  <a:pt x="47958" y="10657"/>
                </a:lnTo>
                <a:cubicBezTo>
                  <a:pt x="56784" y="10657"/>
                  <a:pt x="63944" y="17818"/>
                  <a:pt x="63944" y="26643"/>
                </a:cubicBezTo>
                <a:lnTo>
                  <a:pt x="63944" y="31972"/>
                </a:lnTo>
                <a:lnTo>
                  <a:pt x="106573" y="31972"/>
                </a:lnTo>
                <a:lnTo>
                  <a:pt x="106573" y="26643"/>
                </a:lnTo>
                <a:cubicBezTo>
                  <a:pt x="106573" y="17818"/>
                  <a:pt x="113734" y="10657"/>
                  <a:pt x="122559" y="10657"/>
                </a:cubicBezTo>
                <a:lnTo>
                  <a:pt x="154531" y="10657"/>
                </a:lnTo>
                <a:cubicBezTo>
                  <a:pt x="163357" y="10657"/>
                  <a:pt x="170517" y="17818"/>
                  <a:pt x="170517" y="26643"/>
                </a:cubicBezTo>
                <a:lnTo>
                  <a:pt x="170517" y="58615"/>
                </a:lnTo>
                <a:cubicBezTo>
                  <a:pt x="170517" y="67441"/>
                  <a:pt x="163357" y="74601"/>
                  <a:pt x="154531" y="74601"/>
                </a:cubicBezTo>
                <a:lnTo>
                  <a:pt x="122559" y="74601"/>
                </a:lnTo>
                <a:cubicBezTo>
                  <a:pt x="113734" y="74601"/>
                  <a:pt x="106573" y="67441"/>
                  <a:pt x="106573" y="58615"/>
                </a:cubicBezTo>
                <a:lnTo>
                  <a:pt x="106573" y="53287"/>
                </a:lnTo>
                <a:lnTo>
                  <a:pt x="63944" y="53287"/>
                </a:lnTo>
                <a:lnTo>
                  <a:pt x="63944" y="58615"/>
                </a:lnTo>
                <a:cubicBezTo>
                  <a:pt x="63944" y="61047"/>
                  <a:pt x="63378" y="63378"/>
                  <a:pt x="62412" y="65443"/>
                </a:cubicBezTo>
                <a:lnTo>
                  <a:pt x="85259" y="95916"/>
                </a:lnTo>
                <a:lnTo>
                  <a:pt x="111902" y="95916"/>
                </a:lnTo>
                <a:cubicBezTo>
                  <a:pt x="120728" y="95916"/>
                  <a:pt x="127888" y="103076"/>
                  <a:pt x="127888" y="111902"/>
                </a:cubicBezTo>
                <a:lnTo>
                  <a:pt x="127888" y="143874"/>
                </a:lnTo>
                <a:cubicBezTo>
                  <a:pt x="127888" y="152700"/>
                  <a:pt x="120728" y="159860"/>
                  <a:pt x="111902" y="159860"/>
                </a:cubicBezTo>
                <a:lnTo>
                  <a:pt x="79930" y="159860"/>
                </a:lnTo>
                <a:cubicBezTo>
                  <a:pt x="71104" y="159860"/>
                  <a:pt x="63944" y="152700"/>
                  <a:pt x="63944" y="143874"/>
                </a:cubicBezTo>
                <a:lnTo>
                  <a:pt x="63944" y="111902"/>
                </a:lnTo>
                <a:cubicBezTo>
                  <a:pt x="63944" y="109471"/>
                  <a:pt x="64510" y="107140"/>
                  <a:pt x="65476" y="105075"/>
                </a:cubicBezTo>
                <a:lnTo>
                  <a:pt x="42629" y="74601"/>
                </a:lnTo>
                <a:lnTo>
                  <a:pt x="15986" y="74601"/>
                </a:lnTo>
                <a:cubicBezTo>
                  <a:pt x="7160" y="74601"/>
                  <a:pt x="0" y="67441"/>
                  <a:pt x="0" y="58615"/>
                </a:cubicBezTo>
                <a:lnTo>
                  <a:pt x="0" y="26643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8757079" y="4518713"/>
            <a:ext cx="1496765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Graphs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264473" y="4954480"/>
            <a:ext cx="3467189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Representing semantic relationships between concepts and entities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264473" y="5522872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8378152" y="5560765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Neo4j Graph Database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264473" y="5826014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8378152" y="5863907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ConceptNet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264473" y="6129156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8378152" y="6167049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WordNet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264473" y="6432298"/>
            <a:ext cx="3391403" cy="265249"/>
          </a:xfrm>
          <a:custGeom>
            <a:avLst/>
            <a:gdLst/>
            <a:ahLst/>
            <a:cxnLst/>
            <a:rect l="l" t="t" r="r" b="b"/>
            <a:pathLst>
              <a:path w="3391403" h="265249">
                <a:moveTo>
                  <a:pt x="37894" y="0"/>
                </a:moveTo>
                <a:lnTo>
                  <a:pt x="3353510" y="0"/>
                </a:lnTo>
                <a:cubicBezTo>
                  <a:pt x="3374438" y="0"/>
                  <a:pt x="3391403" y="16966"/>
                  <a:pt x="3391403" y="37894"/>
                </a:cubicBezTo>
                <a:lnTo>
                  <a:pt x="3391403" y="227356"/>
                </a:lnTo>
                <a:cubicBezTo>
                  <a:pt x="3391403" y="248284"/>
                  <a:pt x="3374438" y="265249"/>
                  <a:pt x="3353510" y="265249"/>
                </a:cubicBezTo>
                <a:lnTo>
                  <a:pt x="37894" y="265249"/>
                </a:lnTo>
                <a:cubicBezTo>
                  <a:pt x="16966" y="265249"/>
                  <a:pt x="0" y="248284"/>
                  <a:pt x="0" y="227356"/>
                </a:cubicBezTo>
                <a:lnTo>
                  <a:pt x="0" y="37894"/>
                </a:lnTo>
                <a:cubicBezTo>
                  <a:pt x="0" y="16980"/>
                  <a:pt x="16980" y="0"/>
                  <a:pt x="37894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8378152" y="6470191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Wikidata / DBpedia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610" y="339610"/>
            <a:ext cx="1157221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kern="0" spc="94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9610" y="577337"/>
            <a:ext cx="11716546" cy="407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9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Reflections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9610" y="1052791"/>
            <a:ext cx="11589192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"Arrival" Gets Right &amp; Its Limitations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3855" y="1430607"/>
            <a:ext cx="5662997" cy="4355499"/>
          </a:xfrm>
          <a:custGeom>
            <a:avLst/>
            <a:gdLst/>
            <a:ahLst/>
            <a:cxnLst/>
            <a:rect l="l" t="t" r="r" b="b"/>
            <a:pathLst>
              <a:path w="5662997" h="4355499">
                <a:moveTo>
                  <a:pt x="67902" y="0"/>
                </a:moveTo>
                <a:lnTo>
                  <a:pt x="5595095" y="0"/>
                </a:lnTo>
                <a:cubicBezTo>
                  <a:pt x="5632596" y="0"/>
                  <a:pt x="5662997" y="30401"/>
                  <a:pt x="5662997" y="67902"/>
                </a:cubicBezTo>
                <a:lnTo>
                  <a:pt x="5662997" y="4287596"/>
                </a:lnTo>
                <a:cubicBezTo>
                  <a:pt x="5662997" y="4325098"/>
                  <a:pt x="5632596" y="4355499"/>
                  <a:pt x="5595095" y="4355499"/>
                </a:cubicBezTo>
                <a:lnTo>
                  <a:pt x="67902" y="4355499"/>
                </a:lnTo>
                <a:cubicBezTo>
                  <a:pt x="30401" y="4355499"/>
                  <a:pt x="0" y="4325098"/>
                  <a:pt x="0" y="4287596"/>
                </a:cubicBezTo>
                <a:lnTo>
                  <a:pt x="0" y="67902"/>
                </a:lnTo>
                <a:cubicBezTo>
                  <a:pt x="0" y="30401"/>
                  <a:pt x="30401" y="0"/>
                  <a:pt x="679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7905" y="1604657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203766" y="0"/>
                </a:moveTo>
                <a:lnTo>
                  <a:pt x="203766" y="0"/>
                </a:lnTo>
                <a:cubicBezTo>
                  <a:pt x="316303" y="0"/>
                  <a:pt x="407532" y="91229"/>
                  <a:pt x="407532" y="203766"/>
                </a:cubicBezTo>
                <a:lnTo>
                  <a:pt x="407532" y="203766"/>
                </a:lnTo>
                <a:cubicBezTo>
                  <a:pt x="407532" y="316303"/>
                  <a:pt x="316303" y="407532"/>
                  <a:pt x="203766" y="407532"/>
                </a:cubicBezTo>
                <a:lnTo>
                  <a:pt x="203766" y="407532"/>
                </a:lnTo>
                <a:cubicBezTo>
                  <a:pt x="91229" y="407532"/>
                  <a:pt x="0" y="316303"/>
                  <a:pt x="0" y="203766"/>
                </a:cubicBezTo>
                <a:lnTo>
                  <a:pt x="0" y="203766"/>
                </a:lnTo>
                <a:cubicBezTo>
                  <a:pt x="0" y="91229"/>
                  <a:pt x="91229" y="0"/>
                  <a:pt x="203766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19788" y="1706540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>
                <a:moveTo>
                  <a:pt x="101883" y="203766"/>
                </a:moveTo>
                <a:cubicBezTo>
                  <a:pt x="158114" y="203766"/>
                  <a:pt x="203766" y="158114"/>
                  <a:pt x="203766" y="101883"/>
                </a:cubicBezTo>
                <a:cubicBezTo>
                  <a:pt x="203766" y="45652"/>
                  <a:pt x="158114" y="0"/>
                  <a:pt x="101883" y="0"/>
                </a:cubicBezTo>
                <a:cubicBezTo>
                  <a:pt x="45652" y="0"/>
                  <a:pt x="0" y="45652"/>
                  <a:pt x="0" y="101883"/>
                </a:cubicBezTo>
                <a:cubicBezTo>
                  <a:pt x="0" y="158114"/>
                  <a:pt x="45652" y="203766"/>
                  <a:pt x="101883" y="203766"/>
                </a:cubicBezTo>
                <a:close/>
                <a:moveTo>
                  <a:pt x="135473" y="84650"/>
                </a:moveTo>
                <a:lnTo>
                  <a:pt x="103634" y="135592"/>
                </a:lnTo>
                <a:cubicBezTo>
                  <a:pt x="101963" y="138258"/>
                  <a:pt x="99097" y="139930"/>
                  <a:pt x="95953" y="140089"/>
                </a:cubicBezTo>
                <a:cubicBezTo>
                  <a:pt x="92809" y="140248"/>
                  <a:pt x="89784" y="138816"/>
                  <a:pt x="87914" y="136269"/>
                </a:cubicBezTo>
                <a:lnTo>
                  <a:pt x="68811" y="110798"/>
                </a:lnTo>
                <a:cubicBezTo>
                  <a:pt x="65627" y="106579"/>
                  <a:pt x="66503" y="100609"/>
                  <a:pt x="70721" y="97426"/>
                </a:cubicBezTo>
                <a:cubicBezTo>
                  <a:pt x="74940" y="94242"/>
                  <a:pt x="80909" y="95117"/>
                  <a:pt x="84093" y="99336"/>
                </a:cubicBezTo>
                <a:lnTo>
                  <a:pt x="94839" y="113663"/>
                </a:lnTo>
                <a:lnTo>
                  <a:pt x="119275" y="74542"/>
                </a:lnTo>
                <a:cubicBezTo>
                  <a:pt x="122061" y="70084"/>
                  <a:pt x="127951" y="68691"/>
                  <a:pt x="132448" y="71517"/>
                </a:cubicBezTo>
                <a:cubicBezTo>
                  <a:pt x="136945" y="74343"/>
                  <a:pt x="138298" y="80193"/>
                  <a:pt x="135473" y="8469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7320" y="1672579"/>
            <a:ext cx="172352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It Gets Right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4886" y="2148033"/>
            <a:ext cx="33961" cy="899967"/>
          </a:xfrm>
          <a:custGeom>
            <a:avLst/>
            <a:gdLst/>
            <a:ahLst/>
            <a:cxnLst/>
            <a:rect l="l" t="t" r="r" b="b"/>
            <a:pathLst>
              <a:path w="33961" h="899967">
                <a:moveTo>
                  <a:pt x="0" y="0"/>
                </a:moveTo>
                <a:lnTo>
                  <a:pt x="33961" y="0"/>
                </a:lnTo>
                <a:lnTo>
                  <a:pt x="33961" y="899967"/>
                </a:lnTo>
                <a:lnTo>
                  <a:pt x="0" y="899967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7710" y="2148033"/>
            <a:ext cx="521301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Language is Not Just Symbol Mapping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7710" y="2385760"/>
            <a:ext cx="5213014" cy="66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requires grasping conceptual frameworks, not just word-to-word translation. Modern LLMs struggle similarly—they excel at pattern matching but may lack true semantic understanding.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886" y="3149883"/>
            <a:ext cx="33961" cy="899967"/>
          </a:xfrm>
          <a:custGeom>
            <a:avLst/>
            <a:gdLst/>
            <a:ahLst/>
            <a:cxnLst/>
            <a:rect l="l" t="t" r="r" b="b"/>
            <a:pathLst>
              <a:path w="33961" h="899967">
                <a:moveTo>
                  <a:pt x="0" y="0"/>
                </a:moveTo>
                <a:lnTo>
                  <a:pt x="33961" y="0"/>
                </a:lnTo>
                <a:lnTo>
                  <a:pt x="33961" y="899967"/>
                </a:lnTo>
                <a:lnTo>
                  <a:pt x="0" y="899967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7710" y="3149883"/>
            <a:ext cx="521301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Grounding Problem is Fundamental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7710" y="3387610"/>
            <a:ext cx="5213014" cy="66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Banks must ground abstract concepts in shared physical reality. NLP faces the same challenge: connecting words to real-world referents without assuming human embodiment.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4886" y="4151733"/>
            <a:ext cx="33961" cy="679220"/>
          </a:xfrm>
          <a:custGeom>
            <a:avLst/>
            <a:gdLst/>
            <a:ahLst/>
            <a:cxnLst/>
            <a:rect l="l" t="t" r="r" b="b"/>
            <a:pathLst>
              <a:path w="33961" h="679220">
                <a:moveTo>
                  <a:pt x="0" y="0"/>
                </a:moveTo>
                <a:lnTo>
                  <a:pt x="33961" y="0"/>
                </a:lnTo>
                <a:lnTo>
                  <a:pt x="33961" y="679220"/>
                </a:lnTo>
                <a:lnTo>
                  <a:pt x="0" y="67922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7710" y="4151733"/>
            <a:ext cx="521301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Ambiguity is Unavoidable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7710" y="4389460"/>
            <a:ext cx="5213014" cy="4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'weapon' misunderstanding mirrors real NLP challenges where context, pragmatics, and world knowledge are essential for disambiguation.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4886" y="4932836"/>
            <a:ext cx="33961" cy="679220"/>
          </a:xfrm>
          <a:custGeom>
            <a:avLst/>
            <a:gdLst/>
            <a:ahLst/>
            <a:cxnLst/>
            <a:rect l="l" t="t" r="r" b="b"/>
            <a:pathLst>
              <a:path w="33961" h="679220">
                <a:moveTo>
                  <a:pt x="0" y="0"/>
                </a:moveTo>
                <a:lnTo>
                  <a:pt x="33961" y="0"/>
                </a:lnTo>
                <a:lnTo>
                  <a:pt x="33961" y="679220"/>
                </a:lnTo>
                <a:lnTo>
                  <a:pt x="0" y="67922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7710" y="4932836"/>
            <a:ext cx="521301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Cultural Context Matters Profoundly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7710" y="5170563"/>
            <a:ext cx="5213014" cy="4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communication is saturated with cultural assumptions. Cross-cultural NLP applications face similar challenges with culturally-specific expressions.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87005" y="1430607"/>
            <a:ext cx="5662997" cy="4355499"/>
          </a:xfrm>
          <a:custGeom>
            <a:avLst/>
            <a:gdLst/>
            <a:ahLst/>
            <a:cxnLst/>
            <a:rect l="l" t="t" r="r" b="b"/>
            <a:pathLst>
              <a:path w="5662997" h="4355499">
                <a:moveTo>
                  <a:pt x="67902" y="0"/>
                </a:moveTo>
                <a:lnTo>
                  <a:pt x="5595095" y="0"/>
                </a:lnTo>
                <a:cubicBezTo>
                  <a:pt x="5632596" y="0"/>
                  <a:pt x="5662997" y="30401"/>
                  <a:pt x="5662997" y="67902"/>
                </a:cubicBezTo>
                <a:lnTo>
                  <a:pt x="5662997" y="4287596"/>
                </a:lnTo>
                <a:cubicBezTo>
                  <a:pt x="5662997" y="4325098"/>
                  <a:pt x="5632596" y="4355499"/>
                  <a:pt x="5595095" y="4355499"/>
                </a:cubicBezTo>
                <a:lnTo>
                  <a:pt x="67902" y="4355499"/>
                </a:lnTo>
                <a:cubicBezTo>
                  <a:pt x="30401" y="4355499"/>
                  <a:pt x="0" y="4325098"/>
                  <a:pt x="0" y="4287596"/>
                </a:cubicBezTo>
                <a:lnTo>
                  <a:pt x="0" y="67902"/>
                </a:lnTo>
                <a:cubicBezTo>
                  <a:pt x="0" y="30401"/>
                  <a:pt x="30401" y="0"/>
                  <a:pt x="6790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61055" y="1604657"/>
            <a:ext cx="407532" cy="407532"/>
          </a:xfrm>
          <a:custGeom>
            <a:avLst/>
            <a:gdLst/>
            <a:ahLst/>
            <a:cxnLst/>
            <a:rect l="l" t="t" r="r" b="b"/>
            <a:pathLst>
              <a:path w="407532" h="407532">
                <a:moveTo>
                  <a:pt x="203766" y="0"/>
                </a:moveTo>
                <a:lnTo>
                  <a:pt x="203766" y="0"/>
                </a:lnTo>
                <a:cubicBezTo>
                  <a:pt x="316303" y="0"/>
                  <a:pt x="407532" y="91229"/>
                  <a:pt x="407532" y="203766"/>
                </a:cubicBezTo>
                <a:lnTo>
                  <a:pt x="407532" y="203766"/>
                </a:lnTo>
                <a:cubicBezTo>
                  <a:pt x="407532" y="316303"/>
                  <a:pt x="316303" y="407532"/>
                  <a:pt x="203766" y="407532"/>
                </a:cubicBezTo>
                <a:lnTo>
                  <a:pt x="203766" y="407532"/>
                </a:lnTo>
                <a:cubicBezTo>
                  <a:pt x="91229" y="407532"/>
                  <a:pt x="0" y="316303"/>
                  <a:pt x="0" y="203766"/>
                </a:cubicBezTo>
                <a:lnTo>
                  <a:pt x="0" y="203766"/>
                </a:lnTo>
                <a:cubicBezTo>
                  <a:pt x="0" y="91229"/>
                  <a:pt x="91229" y="0"/>
                  <a:pt x="203766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62938" y="1706540"/>
            <a:ext cx="203766" cy="203766"/>
          </a:xfrm>
          <a:custGeom>
            <a:avLst/>
            <a:gdLst/>
            <a:ahLst/>
            <a:cxnLst/>
            <a:rect l="l" t="t" r="r" b="b"/>
            <a:pathLst>
              <a:path w="203766" h="203766">
                <a:moveTo>
                  <a:pt x="101883" y="203766"/>
                </a:moveTo>
                <a:cubicBezTo>
                  <a:pt x="158114" y="203766"/>
                  <a:pt x="203766" y="158114"/>
                  <a:pt x="203766" y="101883"/>
                </a:cubicBezTo>
                <a:cubicBezTo>
                  <a:pt x="203766" y="45652"/>
                  <a:pt x="158114" y="0"/>
                  <a:pt x="101883" y="0"/>
                </a:cubicBezTo>
                <a:cubicBezTo>
                  <a:pt x="45652" y="0"/>
                  <a:pt x="0" y="45652"/>
                  <a:pt x="0" y="101883"/>
                </a:cubicBezTo>
                <a:cubicBezTo>
                  <a:pt x="0" y="158114"/>
                  <a:pt x="45652" y="203766"/>
                  <a:pt x="101883" y="203766"/>
                </a:cubicBezTo>
                <a:close/>
                <a:moveTo>
                  <a:pt x="101883" y="54125"/>
                </a:moveTo>
                <a:cubicBezTo>
                  <a:pt x="107176" y="54125"/>
                  <a:pt x="111435" y="58384"/>
                  <a:pt x="111435" y="63677"/>
                </a:cubicBezTo>
                <a:lnTo>
                  <a:pt x="111435" y="108251"/>
                </a:lnTo>
                <a:cubicBezTo>
                  <a:pt x="111435" y="113544"/>
                  <a:pt x="107176" y="117802"/>
                  <a:pt x="101883" y="117802"/>
                </a:cubicBezTo>
                <a:cubicBezTo>
                  <a:pt x="96590" y="117802"/>
                  <a:pt x="92331" y="113544"/>
                  <a:pt x="92331" y="108251"/>
                </a:cubicBezTo>
                <a:lnTo>
                  <a:pt x="92331" y="63677"/>
                </a:lnTo>
                <a:cubicBezTo>
                  <a:pt x="92331" y="58384"/>
                  <a:pt x="96590" y="54125"/>
                  <a:pt x="101883" y="54125"/>
                </a:cubicBezTo>
                <a:close/>
                <a:moveTo>
                  <a:pt x="91257" y="140089"/>
                </a:moveTo>
                <a:cubicBezTo>
                  <a:pt x="91015" y="136145"/>
                  <a:pt x="92982" y="132392"/>
                  <a:pt x="96363" y="130347"/>
                </a:cubicBezTo>
                <a:cubicBezTo>
                  <a:pt x="99745" y="128302"/>
                  <a:pt x="103982" y="128302"/>
                  <a:pt x="107363" y="130347"/>
                </a:cubicBezTo>
                <a:cubicBezTo>
                  <a:pt x="110744" y="132392"/>
                  <a:pt x="112711" y="136145"/>
                  <a:pt x="112469" y="140089"/>
                </a:cubicBezTo>
                <a:cubicBezTo>
                  <a:pt x="112711" y="144033"/>
                  <a:pt x="110744" y="147786"/>
                  <a:pt x="107363" y="149831"/>
                </a:cubicBezTo>
                <a:cubicBezTo>
                  <a:pt x="103982" y="151877"/>
                  <a:pt x="99745" y="151877"/>
                  <a:pt x="96363" y="149831"/>
                </a:cubicBezTo>
                <a:cubicBezTo>
                  <a:pt x="92982" y="147786"/>
                  <a:pt x="91015" y="144033"/>
                  <a:pt x="91257" y="140089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70470" y="1672579"/>
            <a:ext cx="2674429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&amp; Simplifications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78036" y="2148033"/>
            <a:ext cx="33961" cy="679220"/>
          </a:xfrm>
          <a:custGeom>
            <a:avLst/>
            <a:gdLst/>
            <a:ahLst/>
            <a:cxnLst/>
            <a:rect l="l" t="t" r="r" b="b"/>
            <a:pathLst>
              <a:path w="33961" h="679220">
                <a:moveTo>
                  <a:pt x="0" y="0"/>
                </a:moveTo>
                <a:lnTo>
                  <a:pt x="33961" y="0"/>
                </a:lnTo>
                <a:lnTo>
                  <a:pt x="33961" y="679220"/>
                </a:lnTo>
                <a:lnTo>
                  <a:pt x="0" y="67922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30860" y="2148033"/>
            <a:ext cx="521301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Unrealistically Rapid Progress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0860" y="2385760"/>
            <a:ext cx="5213014" cy="4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Reality:</a:t>
            </a:r>
            <a:r>
              <a:rPr lang="en-US" sz="107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Banks achieves functional communication within weeks. Real NLP on genuinely novel data (e.g., ancient undeciphered scripts) takes years or remains unsolved.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78036" y="2929136"/>
            <a:ext cx="33961" cy="679220"/>
          </a:xfrm>
          <a:custGeom>
            <a:avLst/>
            <a:gdLst/>
            <a:ahLst/>
            <a:cxnLst/>
            <a:rect l="l" t="t" r="r" b="b"/>
            <a:pathLst>
              <a:path w="33961" h="679220">
                <a:moveTo>
                  <a:pt x="0" y="0"/>
                </a:moveTo>
                <a:lnTo>
                  <a:pt x="33961" y="0"/>
                </a:lnTo>
                <a:lnTo>
                  <a:pt x="33961" y="679220"/>
                </a:lnTo>
                <a:lnTo>
                  <a:pt x="0" y="67922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30860" y="2929136"/>
            <a:ext cx="521301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Idealized Cooperative Learners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30860" y="3166864"/>
            <a:ext cx="5213014" cy="4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Reality:</a:t>
            </a:r>
            <a:r>
              <a:rPr lang="en-US" sz="107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Heptapods actively cooperate in teaching. Real NLP often works with passive data or adversarial scenarios (spam detection, misinformation).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78036" y="3710240"/>
            <a:ext cx="33961" cy="679220"/>
          </a:xfrm>
          <a:custGeom>
            <a:avLst/>
            <a:gdLst/>
            <a:ahLst/>
            <a:cxnLst/>
            <a:rect l="l" t="t" r="r" b="b"/>
            <a:pathLst>
              <a:path w="33961" h="679220">
                <a:moveTo>
                  <a:pt x="0" y="0"/>
                </a:moveTo>
                <a:lnTo>
                  <a:pt x="33961" y="0"/>
                </a:lnTo>
                <a:lnTo>
                  <a:pt x="33961" y="679220"/>
                </a:lnTo>
                <a:lnTo>
                  <a:pt x="0" y="67922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30860" y="3710240"/>
            <a:ext cx="521301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Single Genius Linguist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30860" y="3947967"/>
            <a:ext cx="5213014" cy="4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Reality:</a:t>
            </a:r>
            <a:r>
              <a:rPr lang="en-US" sz="107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Banks works largely alone. Real NLP breakthroughs require interdisciplinary teams and massive computational resources.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78036" y="4491343"/>
            <a:ext cx="33961" cy="679220"/>
          </a:xfrm>
          <a:custGeom>
            <a:avLst/>
            <a:gdLst/>
            <a:ahLst/>
            <a:cxnLst/>
            <a:rect l="l" t="t" r="r" b="b"/>
            <a:pathLst>
              <a:path w="33961" h="679220">
                <a:moveTo>
                  <a:pt x="0" y="0"/>
                </a:moveTo>
                <a:lnTo>
                  <a:pt x="33961" y="0"/>
                </a:lnTo>
                <a:lnTo>
                  <a:pt x="33961" y="679220"/>
                </a:lnTo>
                <a:lnTo>
                  <a:pt x="0" y="67922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30860" y="4491343"/>
            <a:ext cx="5213014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Consciousness as Translation Tool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30860" y="4729070"/>
            <a:ext cx="5213014" cy="4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Reality:</a:t>
            </a:r>
            <a:r>
              <a:rPr lang="en-US" sz="107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Understanding a language doesn't grant precognition. This romanticizes language learning beyond empirical linguistics.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56591" y="5926195"/>
            <a:ext cx="11495799" cy="713181"/>
          </a:xfrm>
          <a:custGeom>
            <a:avLst/>
            <a:gdLst/>
            <a:ahLst/>
            <a:cxnLst/>
            <a:rect l="l" t="t" r="r" b="b"/>
            <a:pathLst>
              <a:path w="11495799" h="713181">
                <a:moveTo>
                  <a:pt x="0" y="0"/>
                </a:moveTo>
                <a:lnTo>
                  <a:pt x="11427876" y="0"/>
                </a:lnTo>
                <a:cubicBezTo>
                  <a:pt x="11465389" y="0"/>
                  <a:pt x="11495799" y="30410"/>
                  <a:pt x="11495799" y="67923"/>
                </a:cubicBezTo>
                <a:lnTo>
                  <a:pt x="11495799" y="645258"/>
                </a:lnTo>
                <a:cubicBezTo>
                  <a:pt x="11495799" y="682771"/>
                  <a:pt x="11465389" y="713181"/>
                  <a:pt x="11427876" y="713181"/>
                </a:cubicBezTo>
                <a:lnTo>
                  <a:pt x="0" y="713181"/>
                </a:lnTo>
                <a:lnTo>
                  <a:pt x="0" y="0"/>
                </a:lnTo>
                <a:close/>
              </a:path>
            </a:pathLst>
          </a:custGeom>
          <a:solidFill>
            <a:srgbClr val="C9A87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56591" y="5926195"/>
            <a:ext cx="33961" cy="713181"/>
          </a:xfrm>
          <a:custGeom>
            <a:avLst/>
            <a:gdLst/>
            <a:ahLst/>
            <a:cxnLst/>
            <a:rect l="l" t="t" r="r" b="b"/>
            <a:pathLst>
              <a:path w="33961" h="713181">
                <a:moveTo>
                  <a:pt x="0" y="0"/>
                </a:moveTo>
                <a:lnTo>
                  <a:pt x="33961" y="0"/>
                </a:lnTo>
                <a:lnTo>
                  <a:pt x="33961" y="713181"/>
                </a:lnTo>
                <a:lnTo>
                  <a:pt x="0" y="713181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9415" y="6062039"/>
            <a:ext cx="11275053" cy="44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0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Verdict:</a:t>
            </a:r>
            <a:r>
              <a:rPr lang="en-US" sz="107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Despite these simplifications, "Arrival" remains one of the most thoughtful explorations of language and communication in science fiction, grounded in real linguistic concepts and NLP challenges.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Looking Forward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Implications for NLP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84250"/>
            <a:ext cx="1162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Lessons from "Arrival" for Future NLP Research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1469" y="1337469"/>
            <a:ext cx="5707063" cy="1643063"/>
          </a:xfrm>
          <a:custGeom>
            <a:avLst/>
            <a:gdLst/>
            <a:ahLst/>
            <a:cxnLst/>
            <a:rect l="l" t="t" r="r" b="b"/>
            <a:pathLst>
              <a:path w="5707063" h="1643063">
                <a:moveTo>
                  <a:pt x="63504" y="0"/>
                </a:moveTo>
                <a:lnTo>
                  <a:pt x="5643558" y="0"/>
                </a:lnTo>
                <a:cubicBezTo>
                  <a:pt x="5678631" y="0"/>
                  <a:pt x="5707063" y="28432"/>
                  <a:pt x="5707063" y="63504"/>
                </a:cubicBezTo>
                <a:lnTo>
                  <a:pt x="5707063" y="1579558"/>
                </a:lnTo>
                <a:cubicBezTo>
                  <a:pt x="5707063" y="1614631"/>
                  <a:pt x="5678631" y="1643063"/>
                  <a:pt x="5643558" y="1643063"/>
                </a:cubicBezTo>
                <a:lnTo>
                  <a:pt x="63504" y="1643063"/>
                </a:lnTo>
                <a:cubicBezTo>
                  <a:pt x="28432" y="1643063"/>
                  <a:pt x="0" y="1614631"/>
                  <a:pt x="0" y="1579558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187" y="15001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48469" y="1500188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938" y="1547813"/>
            <a:ext cx="1666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Multimodal Integration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187" y="1912938"/>
            <a:ext cx="5445125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NLP must seamlessly integrate vision, audio, and text, just as understanding Heptapod B required both visual pattern recognition and linguistic analysis.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187" y="2468563"/>
            <a:ext cx="5381625" cy="349250"/>
          </a:xfrm>
          <a:custGeom>
            <a:avLst/>
            <a:gdLst/>
            <a:ahLst/>
            <a:cxnLst/>
            <a:rect l="l" t="t" r="r" b="b"/>
            <a:pathLst>
              <a:path w="5381625" h="349250">
                <a:moveTo>
                  <a:pt x="31750" y="0"/>
                </a:moveTo>
                <a:lnTo>
                  <a:pt x="5349875" y="0"/>
                </a:lnTo>
                <a:cubicBezTo>
                  <a:pt x="5367410" y="0"/>
                  <a:pt x="5381625" y="14215"/>
                  <a:pt x="5381625" y="31750"/>
                </a:cubicBezTo>
                <a:lnTo>
                  <a:pt x="5381625" y="317500"/>
                </a:lnTo>
                <a:cubicBezTo>
                  <a:pt x="5381625" y="335035"/>
                  <a:pt x="5367410" y="349250"/>
                  <a:pt x="5349875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9438" y="2563813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Progress:</a:t>
            </a: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GPT-4V, Gemini, CLIP represent early steps toward true multimodal understanding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63469" y="1337469"/>
            <a:ext cx="5707063" cy="1643063"/>
          </a:xfrm>
          <a:custGeom>
            <a:avLst/>
            <a:gdLst/>
            <a:ahLst/>
            <a:cxnLst/>
            <a:rect l="l" t="t" r="r" b="b"/>
            <a:pathLst>
              <a:path w="5707063" h="1643063">
                <a:moveTo>
                  <a:pt x="63504" y="0"/>
                </a:moveTo>
                <a:lnTo>
                  <a:pt x="5643558" y="0"/>
                </a:lnTo>
                <a:cubicBezTo>
                  <a:pt x="5678631" y="0"/>
                  <a:pt x="5707063" y="28432"/>
                  <a:pt x="5707063" y="63504"/>
                </a:cubicBezTo>
                <a:lnTo>
                  <a:pt x="5707063" y="1579558"/>
                </a:lnTo>
                <a:cubicBezTo>
                  <a:pt x="5707063" y="1614631"/>
                  <a:pt x="5678631" y="1643063"/>
                  <a:pt x="5643558" y="1643063"/>
                </a:cubicBezTo>
                <a:lnTo>
                  <a:pt x="63504" y="1643063"/>
                </a:lnTo>
                <a:cubicBezTo>
                  <a:pt x="28432" y="1643063"/>
                  <a:pt x="0" y="1614631"/>
                  <a:pt x="0" y="1579558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26188" y="15001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90469" y="1500188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38938" y="1547813"/>
            <a:ext cx="246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Zero-Shot Cross-Domain Transfer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26188" y="1912938"/>
            <a:ext cx="5445125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Banks had no prior Heptapod data yet succeeded. NLP needs better few-shot and zero-shot learning to handle truly novel domains without massive training data.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26188" y="2468563"/>
            <a:ext cx="5381625" cy="349250"/>
          </a:xfrm>
          <a:custGeom>
            <a:avLst/>
            <a:gdLst/>
            <a:ahLst/>
            <a:cxnLst/>
            <a:rect l="l" t="t" r="r" b="b"/>
            <a:pathLst>
              <a:path w="5381625" h="349250">
                <a:moveTo>
                  <a:pt x="31750" y="0"/>
                </a:moveTo>
                <a:lnTo>
                  <a:pt x="5349875" y="0"/>
                </a:lnTo>
                <a:cubicBezTo>
                  <a:pt x="5367410" y="0"/>
                  <a:pt x="5381625" y="14215"/>
                  <a:pt x="5381625" y="31750"/>
                </a:cubicBezTo>
                <a:lnTo>
                  <a:pt x="5381625" y="317500"/>
                </a:lnTo>
                <a:cubicBezTo>
                  <a:pt x="5381625" y="335035"/>
                  <a:pt x="5367410" y="349250"/>
                  <a:pt x="5349875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21438" y="2563813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Challenge:</a:t>
            </a: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Current models struggle with domains radically different from training data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1469" y="3115469"/>
            <a:ext cx="5707063" cy="1643063"/>
          </a:xfrm>
          <a:custGeom>
            <a:avLst/>
            <a:gdLst/>
            <a:ahLst/>
            <a:cxnLst/>
            <a:rect l="l" t="t" r="r" b="b"/>
            <a:pathLst>
              <a:path w="5707063" h="1643063">
                <a:moveTo>
                  <a:pt x="63504" y="0"/>
                </a:moveTo>
                <a:lnTo>
                  <a:pt x="5643558" y="0"/>
                </a:lnTo>
                <a:cubicBezTo>
                  <a:pt x="5678631" y="0"/>
                  <a:pt x="5707063" y="28432"/>
                  <a:pt x="5707063" y="63504"/>
                </a:cubicBezTo>
                <a:lnTo>
                  <a:pt x="5707063" y="1579558"/>
                </a:lnTo>
                <a:cubicBezTo>
                  <a:pt x="5707063" y="1614631"/>
                  <a:pt x="5678631" y="1643063"/>
                  <a:pt x="5643558" y="1643063"/>
                </a:cubicBezTo>
                <a:lnTo>
                  <a:pt x="63504" y="1643063"/>
                </a:lnTo>
                <a:cubicBezTo>
                  <a:pt x="28432" y="1643063"/>
                  <a:pt x="0" y="1614631"/>
                  <a:pt x="0" y="1579558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187" y="32781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8469" y="3278188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6938" y="3325813"/>
            <a:ext cx="1690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AI for Trust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187" y="3690937"/>
            <a:ext cx="5445125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'weapon' misunderstanding nearly caused war. High-stakes NLP applications (healthcare, legal, diplomacy) require explainable models that reveal their reasoning.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4187" y="4246563"/>
            <a:ext cx="5381625" cy="349250"/>
          </a:xfrm>
          <a:custGeom>
            <a:avLst/>
            <a:gdLst/>
            <a:ahLst/>
            <a:cxnLst/>
            <a:rect l="l" t="t" r="r" b="b"/>
            <a:pathLst>
              <a:path w="5381625" h="349250">
                <a:moveTo>
                  <a:pt x="31750" y="0"/>
                </a:moveTo>
                <a:lnTo>
                  <a:pt x="5349875" y="0"/>
                </a:lnTo>
                <a:cubicBezTo>
                  <a:pt x="5367410" y="0"/>
                  <a:pt x="5381625" y="14215"/>
                  <a:pt x="5381625" y="31750"/>
                </a:cubicBezTo>
                <a:lnTo>
                  <a:pt x="5381625" y="317500"/>
                </a:lnTo>
                <a:cubicBezTo>
                  <a:pt x="5381625" y="335035"/>
                  <a:pt x="5367410" y="349250"/>
                  <a:pt x="5349875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79438" y="4341813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Need:</a:t>
            </a: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Transparency in decision-making for high-consequence applications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63469" y="3115469"/>
            <a:ext cx="5707063" cy="1643063"/>
          </a:xfrm>
          <a:custGeom>
            <a:avLst/>
            <a:gdLst/>
            <a:ahLst/>
            <a:cxnLst/>
            <a:rect l="l" t="t" r="r" b="b"/>
            <a:pathLst>
              <a:path w="5707063" h="1643063">
                <a:moveTo>
                  <a:pt x="63504" y="0"/>
                </a:moveTo>
                <a:lnTo>
                  <a:pt x="5643558" y="0"/>
                </a:lnTo>
                <a:cubicBezTo>
                  <a:pt x="5678631" y="0"/>
                  <a:pt x="5707063" y="28432"/>
                  <a:pt x="5707063" y="63504"/>
                </a:cubicBezTo>
                <a:lnTo>
                  <a:pt x="5707063" y="1579558"/>
                </a:lnTo>
                <a:cubicBezTo>
                  <a:pt x="5707063" y="1614631"/>
                  <a:pt x="5678631" y="1643063"/>
                  <a:pt x="5643558" y="1643063"/>
                </a:cubicBezTo>
                <a:lnTo>
                  <a:pt x="63504" y="1643063"/>
                </a:lnTo>
                <a:cubicBezTo>
                  <a:pt x="28432" y="1643063"/>
                  <a:pt x="0" y="1614631"/>
                  <a:pt x="0" y="1579558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326188" y="32781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90469" y="3278188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38938" y="3325813"/>
            <a:ext cx="2095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Cultural &amp; Ethical Awareness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26188" y="3690937"/>
            <a:ext cx="5445125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 systems trained predominantly on English and Western data perpetuate biases. "Arrival" emphasizes stepping outside one's cognitive framework.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26188" y="4246563"/>
            <a:ext cx="5381625" cy="349250"/>
          </a:xfrm>
          <a:custGeom>
            <a:avLst/>
            <a:gdLst/>
            <a:ahLst/>
            <a:cxnLst/>
            <a:rect l="l" t="t" r="r" b="b"/>
            <a:pathLst>
              <a:path w="5381625" h="349250">
                <a:moveTo>
                  <a:pt x="31750" y="0"/>
                </a:moveTo>
                <a:lnTo>
                  <a:pt x="5349875" y="0"/>
                </a:lnTo>
                <a:cubicBezTo>
                  <a:pt x="5367410" y="0"/>
                  <a:pt x="5381625" y="14215"/>
                  <a:pt x="5381625" y="31750"/>
                </a:cubicBezTo>
                <a:lnTo>
                  <a:pt x="5381625" y="317500"/>
                </a:lnTo>
                <a:cubicBezTo>
                  <a:pt x="5381625" y="335035"/>
                  <a:pt x="5367410" y="349250"/>
                  <a:pt x="5349875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21438" y="4341813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Imperative:</a:t>
            </a: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Build more culturally diverse, equitable, and inclusive NLP systems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1469" y="4893469"/>
            <a:ext cx="11549063" cy="1643063"/>
          </a:xfrm>
          <a:custGeom>
            <a:avLst/>
            <a:gdLst/>
            <a:ahLst/>
            <a:cxnLst/>
            <a:rect l="l" t="t" r="r" b="b"/>
            <a:pathLst>
              <a:path w="11549063" h="1643063">
                <a:moveTo>
                  <a:pt x="63504" y="0"/>
                </a:moveTo>
                <a:lnTo>
                  <a:pt x="11485558" y="0"/>
                </a:lnTo>
                <a:cubicBezTo>
                  <a:pt x="11520631" y="0"/>
                  <a:pt x="11549063" y="28432"/>
                  <a:pt x="11549063" y="63504"/>
                </a:cubicBezTo>
                <a:lnTo>
                  <a:pt x="11549063" y="1579558"/>
                </a:lnTo>
                <a:cubicBezTo>
                  <a:pt x="11549063" y="1614631"/>
                  <a:pt x="11520631" y="1643062"/>
                  <a:pt x="11485558" y="1643063"/>
                </a:cubicBezTo>
                <a:lnTo>
                  <a:pt x="63504" y="1643063"/>
                </a:lnTo>
                <a:cubicBezTo>
                  <a:pt x="28432" y="1643063"/>
                  <a:pt x="0" y="1614631"/>
                  <a:pt x="0" y="1579558"/>
                </a:cubicBezTo>
                <a:lnTo>
                  <a:pt x="0" y="63504"/>
                </a:lnTo>
                <a:cubicBezTo>
                  <a:pt x="0" y="28455"/>
                  <a:pt x="28455" y="0"/>
                  <a:pt x="6350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4187" y="50561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8469" y="5056188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6938" y="5103813"/>
            <a:ext cx="239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Human-AI Collaborative Learning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84187" y="5468938"/>
            <a:ext cx="11287125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Banks and Heptapods learned collaboratively through mutual effort and feedback. Future NLP should emphasize human-in-the-loop systems where humans and AI co-construct understanding rather than AI replacing human expertise.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84187" y="6024563"/>
            <a:ext cx="11223625" cy="349250"/>
          </a:xfrm>
          <a:custGeom>
            <a:avLst/>
            <a:gdLst/>
            <a:ahLst/>
            <a:cxnLst/>
            <a:rect l="l" t="t" r="r" b="b"/>
            <a:pathLst>
              <a:path w="11223625" h="349250">
                <a:moveTo>
                  <a:pt x="31750" y="0"/>
                </a:moveTo>
                <a:lnTo>
                  <a:pt x="11191875" y="0"/>
                </a:lnTo>
                <a:cubicBezTo>
                  <a:pt x="11209410" y="0"/>
                  <a:pt x="11223625" y="14215"/>
                  <a:pt x="11223625" y="31750"/>
                </a:cubicBezTo>
                <a:lnTo>
                  <a:pt x="11223625" y="317500"/>
                </a:lnTo>
                <a:cubicBezTo>
                  <a:pt x="11223625" y="335035"/>
                  <a:pt x="11209410" y="349250"/>
                  <a:pt x="11191875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1A1D24">
              <a:alpha val="5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79438" y="6119813"/>
            <a:ext cx="1108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Paradigm Shift:</a:t>
            </a: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AI as replacement to AI as collaborative partner in knowledge construction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 &amp; Key Takeaways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262063"/>
            <a:ext cx="5410200" cy="4581525"/>
          </a:xfrm>
          <a:custGeom>
            <a:avLst/>
            <a:gdLst/>
            <a:ahLst/>
            <a:cxnLst/>
            <a:rect l="l" t="t" r="r" b="b"/>
            <a:pathLst>
              <a:path w="5410200" h="4581525">
                <a:moveTo>
                  <a:pt x="76191" y="0"/>
                </a:moveTo>
                <a:lnTo>
                  <a:pt x="5334009" y="0"/>
                </a:lnTo>
                <a:cubicBezTo>
                  <a:pt x="5376088" y="0"/>
                  <a:pt x="5410200" y="34112"/>
                  <a:pt x="5410200" y="76191"/>
                </a:cubicBezTo>
                <a:lnTo>
                  <a:pt x="5410200" y="4505334"/>
                </a:lnTo>
                <a:cubicBezTo>
                  <a:pt x="5410200" y="4547413"/>
                  <a:pt x="5376088" y="4581525"/>
                  <a:pt x="5334009" y="4581525"/>
                </a:cubicBezTo>
                <a:lnTo>
                  <a:pt x="76191" y="4581525"/>
                </a:lnTo>
                <a:cubicBezTo>
                  <a:pt x="34112" y="4581525"/>
                  <a:pt x="0" y="4547413"/>
                  <a:pt x="0" y="450533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3888" y="14954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42863"/>
                </a:move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42863"/>
                </a:lnTo>
                <a:close/>
                <a:moveTo>
                  <a:pt x="21431" y="164306"/>
                </a:moveTo>
                <a:lnTo>
                  <a:pt x="21431" y="178594"/>
                </a:lnTo>
                <a:cubicBezTo>
                  <a:pt x="21431" y="182523"/>
                  <a:pt x="24646" y="185738"/>
                  <a:pt x="28575" y="185738"/>
                </a:cubicBezTo>
                <a:lnTo>
                  <a:pt x="42863" y="185738"/>
                </a:lnTo>
                <a:cubicBezTo>
                  <a:pt x="46792" y="185738"/>
                  <a:pt x="50006" y="182523"/>
                  <a:pt x="50006" y="178594"/>
                </a:cubicBezTo>
                <a:lnTo>
                  <a:pt x="50006" y="164306"/>
                </a:lnTo>
                <a:cubicBezTo>
                  <a:pt x="50006" y="160377"/>
                  <a:pt x="46792" y="157163"/>
                  <a:pt x="42863" y="157163"/>
                </a:cubicBezTo>
                <a:lnTo>
                  <a:pt x="28575" y="157163"/>
                </a:lnTo>
                <a:cubicBezTo>
                  <a:pt x="24646" y="157163"/>
                  <a:pt x="21431" y="160377"/>
                  <a:pt x="21431" y="164306"/>
                </a:cubicBezTo>
                <a:close/>
                <a:moveTo>
                  <a:pt x="157163" y="157163"/>
                </a:moveTo>
                <a:cubicBezTo>
                  <a:pt x="153233" y="157163"/>
                  <a:pt x="150019" y="160377"/>
                  <a:pt x="150019" y="164306"/>
                </a:cubicBezTo>
                <a:lnTo>
                  <a:pt x="150019" y="178594"/>
                </a:lnTo>
                <a:cubicBezTo>
                  <a:pt x="150019" y="182523"/>
                  <a:pt x="153233" y="185738"/>
                  <a:pt x="157163" y="185738"/>
                </a:cubicBezTo>
                <a:lnTo>
                  <a:pt x="171450" y="185738"/>
                </a:lnTo>
                <a:cubicBezTo>
                  <a:pt x="175379" y="185738"/>
                  <a:pt x="178594" y="182523"/>
                  <a:pt x="178594" y="178594"/>
                </a:cubicBezTo>
                <a:lnTo>
                  <a:pt x="178594" y="164306"/>
                </a:lnTo>
                <a:cubicBezTo>
                  <a:pt x="178594" y="160377"/>
                  <a:pt x="175379" y="157163"/>
                  <a:pt x="171450" y="157163"/>
                </a:cubicBezTo>
                <a:lnTo>
                  <a:pt x="157163" y="157163"/>
                </a:lnTo>
                <a:close/>
                <a:moveTo>
                  <a:pt x="21431" y="107156"/>
                </a:moveTo>
                <a:lnTo>
                  <a:pt x="21431" y="121444"/>
                </a:lnTo>
                <a:cubicBezTo>
                  <a:pt x="21431" y="125373"/>
                  <a:pt x="24646" y="128588"/>
                  <a:pt x="28575" y="128588"/>
                </a:cubicBezTo>
                <a:lnTo>
                  <a:pt x="42863" y="128588"/>
                </a:lnTo>
                <a:cubicBezTo>
                  <a:pt x="46792" y="128588"/>
                  <a:pt x="50006" y="125373"/>
                  <a:pt x="50006" y="121444"/>
                </a:cubicBezTo>
                <a:lnTo>
                  <a:pt x="50006" y="107156"/>
                </a:lnTo>
                <a:cubicBezTo>
                  <a:pt x="50006" y="103227"/>
                  <a:pt x="46792" y="100013"/>
                  <a:pt x="42863" y="100013"/>
                </a:cubicBezTo>
                <a:lnTo>
                  <a:pt x="28575" y="100013"/>
                </a:lnTo>
                <a:cubicBezTo>
                  <a:pt x="24646" y="100013"/>
                  <a:pt x="21431" y="103227"/>
                  <a:pt x="21431" y="107156"/>
                </a:cubicBezTo>
                <a:close/>
                <a:moveTo>
                  <a:pt x="157163" y="100013"/>
                </a:moveTo>
                <a:cubicBezTo>
                  <a:pt x="153233" y="100013"/>
                  <a:pt x="150019" y="103227"/>
                  <a:pt x="150019" y="107156"/>
                </a:cubicBezTo>
                <a:lnTo>
                  <a:pt x="150019" y="121444"/>
                </a:lnTo>
                <a:cubicBezTo>
                  <a:pt x="150019" y="125373"/>
                  <a:pt x="153233" y="128588"/>
                  <a:pt x="157163" y="128588"/>
                </a:cubicBezTo>
                <a:lnTo>
                  <a:pt x="171450" y="128588"/>
                </a:lnTo>
                <a:cubicBezTo>
                  <a:pt x="175379" y="128588"/>
                  <a:pt x="178594" y="125373"/>
                  <a:pt x="178594" y="121444"/>
                </a:cubicBezTo>
                <a:lnTo>
                  <a:pt x="178594" y="107156"/>
                </a:lnTo>
                <a:cubicBezTo>
                  <a:pt x="178594" y="103227"/>
                  <a:pt x="175379" y="100013"/>
                  <a:pt x="171450" y="100013"/>
                </a:cubicBezTo>
                <a:lnTo>
                  <a:pt x="157163" y="100013"/>
                </a:lnTo>
                <a:close/>
                <a:moveTo>
                  <a:pt x="21431" y="50006"/>
                </a:moveTo>
                <a:lnTo>
                  <a:pt x="21431" y="64294"/>
                </a:lnTo>
                <a:cubicBezTo>
                  <a:pt x="21431" y="68223"/>
                  <a:pt x="24646" y="71438"/>
                  <a:pt x="28575" y="71438"/>
                </a:cubicBezTo>
                <a:lnTo>
                  <a:pt x="42863" y="71438"/>
                </a:lnTo>
                <a:cubicBezTo>
                  <a:pt x="46792" y="71438"/>
                  <a:pt x="50006" y="68223"/>
                  <a:pt x="50006" y="64294"/>
                </a:cubicBezTo>
                <a:lnTo>
                  <a:pt x="50006" y="50006"/>
                </a:lnTo>
                <a:cubicBezTo>
                  <a:pt x="50006" y="46077"/>
                  <a:pt x="46792" y="42863"/>
                  <a:pt x="42863" y="42863"/>
                </a:cubicBezTo>
                <a:lnTo>
                  <a:pt x="28575" y="42863"/>
                </a:lnTo>
                <a:cubicBezTo>
                  <a:pt x="24646" y="42863"/>
                  <a:pt x="21431" y="46077"/>
                  <a:pt x="21431" y="50006"/>
                </a:cubicBezTo>
                <a:close/>
                <a:moveTo>
                  <a:pt x="157163" y="42863"/>
                </a:moveTo>
                <a:cubicBezTo>
                  <a:pt x="153233" y="42863"/>
                  <a:pt x="150019" y="46077"/>
                  <a:pt x="150019" y="50006"/>
                </a:cubicBezTo>
                <a:lnTo>
                  <a:pt x="150019" y="64294"/>
                </a:lnTo>
                <a:cubicBezTo>
                  <a:pt x="150019" y="68223"/>
                  <a:pt x="153233" y="71438"/>
                  <a:pt x="157163" y="71438"/>
                </a:cubicBezTo>
                <a:lnTo>
                  <a:pt x="171450" y="71438"/>
                </a:lnTo>
                <a:cubicBezTo>
                  <a:pt x="175379" y="71438"/>
                  <a:pt x="178594" y="68223"/>
                  <a:pt x="178594" y="64294"/>
                </a:cubicBezTo>
                <a:lnTo>
                  <a:pt x="178594" y="50006"/>
                </a:lnTo>
                <a:cubicBezTo>
                  <a:pt x="178594" y="46077"/>
                  <a:pt x="175379" y="42863"/>
                  <a:pt x="171450" y="42863"/>
                </a:cubicBezTo>
                <a:lnTo>
                  <a:pt x="157163" y="42863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6775" y="1457325"/>
            <a:ext cx="4848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Message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1025" y="1914525"/>
            <a:ext cx="5095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"Arrival" serves as both an artistic exploration of language and a remarkably accurate portrayal of fundamental NLP challenges: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1025" y="26003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7225" y="2676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52388"/>
                </a:moveTo>
                <a:cubicBezTo>
                  <a:pt x="70931" y="52388"/>
                  <a:pt x="66675" y="56644"/>
                  <a:pt x="66675" y="61912"/>
                </a:cubicBezTo>
                <a:cubicBezTo>
                  <a:pt x="66675" y="65871"/>
                  <a:pt x="63490" y="69056"/>
                  <a:pt x="59531" y="69056"/>
                </a:cubicBezTo>
                <a:cubicBezTo>
                  <a:pt x="55572" y="69056"/>
                  <a:pt x="52388" y="65871"/>
                  <a:pt x="52388" y="61912"/>
                </a:cubicBezTo>
                <a:cubicBezTo>
                  <a:pt x="52388" y="48756"/>
                  <a:pt x="63044" y="38100"/>
                  <a:pt x="76200" y="38100"/>
                </a:cubicBezTo>
                <a:cubicBezTo>
                  <a:pt x="89356" y="38100"/>
                  <a:pt x="100013" y="48756"/>
                  <a:pt x="100013" y="61912"/>
                </a:cubicBezTo>
                <a:cubicBezTo>
                  <a:pt x="100013" y="75962"/>
                  <a:pt x="89297" y="81915"/>
                  <a:pt x="83344" y="84088"/>
                </a:cubicBezTo>
                <a:lnTo>
                  <a:pt x="83344" y="85219"/>
                </a:lnTo>
                <a:cubicBezTo>
                  <a:pt x="83344" y="89178"/>
                  <a:pt x="80159" y="92363"/>
                  <a:pt x="76200" y="92363"/>
                </a:cubicBezTo>
                <a:cubicBezTo>
                  <a:pt x="72241" y="92363"/>
                  <a:pt x="69056" y="89178"/>
                  <a:pt x="69056" y="85219"/>
                </a:cubicBezTo>
                <a:lnTo>
                  <a:pt x="69056" y="82808"/>
                </a:lnTo>
                <a:cubicBezTo>
                  <a:pt x="69056" y="76706"/>
                  <a:pt x="73462" y="72330"/>
                  <a:pt x="78016" y="70842"/>
                </a:cubicBezTo>
                <a:cubicBezTo>
                  <a:pt x="79921" y="70217"/>
                  <a:pt x="81945" y="69205"/>
                  <a:pt x="83433" y="67776"/>
                </a:cubicBezTo>
                <a:cubicBezTo>
                  <a:pt x="84713" y="66526"/>
                  <a:pt x="85725" y="64800"/>
                  <a:pt x="85725" y="61942"/>
                </a:cubicBezTo>
                <a:cubicBezTo>
                  <a:pt x="85725" y="56674"/>
                  <a:pt x="81469" y="52417"/>
                  <a:pt x="76200" y="52417"/>
                </a:cubicBezTo>
                <a:close/>
                <a:moveTo>
                  <a:pt x="66675" y="109537"/>
                </a:moveTo>
                <a:cubicBezTo>
                  <a:pt x="66675" y="104281"/>
                  <a:pt x="70943" y="100013"/>
                  <a:pt x="76200" y="100013"/>
                </a:cubicBezTo>
                <a:cubicBezTo>
                  <a:pt x="81457" y="100013"/>
                  <a:pt x="85725" y="104281"/>
                  <a:pt x="85725" y="109537"/>
                </a:cubicBezTo>
                <a:cubicBezTo>
                  <a:pt x="85725" y="114794"/>
                  <a:pt x="81457" y="119062"/>
                  <a:pt x="76200" y="119062"/>
                </a:cubicBezTo>
                <a:cubicBezTo>
                  <a:pt x="70943" y="119062"/>
                  <a:pt x="66675" y="114794"/>
                  <a:pt x="66675" y="109537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0125" y="2562225"/>
            <a:ext cx="467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Ambiguity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0125" y="2790825"/>
            <a:ext cx="4676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Words carry multiple meanings resolvable only through context, pragmatics, and shared understanding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1025" y="34004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7225" y="3476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0125" y="3362325"/>
            <a:ext cx="467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Cultural Grounding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0125" y="3590925"/>
            <a:ext cx="4676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 requires establishing common ground through shared experiences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1025" y="42005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7225" y="4276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0125" y="4162425"/>
            <a:ext cx="467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 Integration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0125" y="4391025"/>
            <a:ext cx="4676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Heptapod language illustrates the importance of integrating multiple communication modes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1025" y="50006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7225" y="5076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0125" y="4962525"/>
            <a:ext cx="467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Understanding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0125" y="5191125"/>
            <a:ext cx="4676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comprehension requires internalizing the conceptual framework of the language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0050" y="6000750"/>
            <a:ext cx="5400675" cy="800100"/>
          </a:xfrm>
          <a:custGeom>
            <a:avLst/>
            <a:gdLst/>
            <a:ahLst/>
            <a:cxnLst/>
            <a:rect l="l" t="t" r="r" b="b"/>
            <a:pathLst>
              <a:path w="5400675" h="800100">
                <a:moveTo>
                  <a:pt x="0" y="0"/>
                </a:moveTo>
                <a:lnTo>
                  <a:pt x="5324473" y="0"/>
                </a:lnTo>
                <a:cubicBezTo>
                  <a:pt x="5366558" y="0"/>
                  <a:pt x="5400675" y="34117"/>
                  <a:pt x="5400675" y="76202"/>
                </a:cubicBezTo>
                <a:lnTo>
                  <a:pt x="5400675" y="723898"/>
                </a:lnTo>
                <a:cubicBezTo>
                  <a:pt x="5400675" y="765983"/>
                  <a:pt x="5366558" y="800100"/>
                  <a:pt x="5324473" y="800100"/>
                </a:cubicBez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00050" y="600075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1500" y="6153150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film reminds us that language is not merely a code to be cracked, but a living system that shapes thought, culture, and reality.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95988" y="1262063"/>
            <a:ext cx="5810250" cy="5534025"/>
          </a:xfrm>
          <a:custGeom>
            <a:avLst/>
            <a:gdLst/>
            <a:ahLst/>
            <a:cxnLst/>
            <a:rect l="l" t="t" r="r" b="b"/>
            <a:pathLst>
              <a:path w="5810250" h="5534025">
                <a:moveTo>
                  <a:pt x="76204" y="0"/>
                </a:moveTo>
                <a:lnTo>
                  <a:pt x="5734046" y="0"/>
                </a:lnTo>
                <a:cubicBezTo>
                  <a:pt x="5776133" y="0"/>
                  <a:pt x="5810250" y="34117"/>
                  <a:pt x="5810250" y="76204"/>
                </a:cubicBezTo>
                <a:lnTo>
                  <a:pt x="5810250" y="5457821"/>
                </a:lnTo>
                <a:cubicBezTo>
                  <a:pt x="5810250" y="5499908"/>
                  <a:pt x="5776133" y="5534025"/>
                  <a:pt x="5734046" y="5534025"/>
                </a:cubicBezTo>
                <a:lnTo>
                  <a:pt x="76204" y="5534025"/>
                </a:lnTo>
                <a:cubicBezTo>
                  <a:pt x="34117" y="5534025"/>
                  <a:pt x="0" y="5499908"/>
                  <a:pt x="0" y="54578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19825" y="14954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0019" y="157163"/>
                </a:moveTo>
                <a:cubicBezTo>
                  <a:pt x="193417" y="157163"/>
                  <a:pt x="228600" y="121980"/>
                  <a:pt x="228600" y="78581"/>
                </a:cubicBezTo>
                <a:cubicBezTo>
                  <a:pt x="228600" y="35183"/>
                  <a:pt x="193417" y="0"/>
                  <a:pt x="150019" y="0"/>
                </a:cubicBezTo>
                <a:cubicBezTo>
                  <a:pt x="106620" y="0"/>
                  <a:pt x="71438" y="35183"/>
                  <a:pt x="71438" y="78581"/>
                </a:cubicBezTo>
                <a:cubicBezTo>
                  <a:pt x="71438" y="86931"/>
                  <a:pt x="72732" y="95012"/>
                  <a:pt x="75143" y="102557"/>
                </a:cubicBezTo>
                <a:lnTo>
                  <a:pt x="3125" y="174575"/>
                </a:lnTo>
                <a:cubicBezTo>
                  <a:pt x="1116" y="176585"/>
                  <a:pt x="0" y="179308"/>
                  <a:pt x="0" y="182166"/>
                </a:cubicBezTo>
                <a:lnTo>
                  <a:pt x="0" y="217884"/>
                </a:lnTo>
                <a:cubicBezTo>
                  <a:pt x="0" y="223823"/>
                  <a:pt x="4777" y="228600"/>
                  <a:pt x="10716" y="228600"/>
                </a:cubicBezTo>
                <a:lnTo>
                  <a:pt x="46434" y="228600"/>
                </a:lnTo>
                <a:cubicBezTo>
                  <a:pt x="52373" y="228600"/>
                  <a:pt x="57150" y="223823"/>
                  <a:pt x="57150" y="217884"/>
                </a:cubicBezTo>
                <a:lnTo>
                  <a:pt x="57150" y="200025"/>
                </a:lnTo>
                <a:lnTo>
                  <a:pt x="75009" y="200025"/>
                </a:lnTo>
                <a:cubicBezTo>
                  <a:pt x="80948" y="200025"/>
                  <a:pt x="85725" y="195248"/>
                  <a:pt x="85725" y="189309"/>
                </a:cubicBezTo>
                <a:lnTo>
                  <a:pt x="85725" y="171450"/>
                </a:lnTo>
                <a:lnTo>
                  <a:pt x="103584" y="171450"/>
                </a:lnTo>
                <a:cubicBezTo>
                  <a:pt x="106442" y="171450"/>
                  <a:pt x="109165" y="170334"/>
                  <a:pt x="111175" y="168325"/>
                </a:cubicBezTo>
                <a:lnTo>
                  <a:pt x="126043" y="153457"/>
                </a:lnTo>
                <a:cubicBezTo>
                  <a:pt x="133588" y="155868"/>
                  <a:pt x="141669" y="157163"/>
                  <a:pt x="150019" y="157163"/>
                </a:cubicBezTo>
                <a:close/>
                <a:moveTo>
                  <a:pt x="167878" y="42863"/>
                </a:moveTo>
                <a:cubicBezTo>
                  <a:pt x="177735" y="42863"/>
                  <a:pt x="185738" y="50865"/>
                  <a:pt x="185738" y="60722"/>
                </a:cubicBezTo>
                <a:cubicBezTo>
                  <a:pt x="185738" y="70579"/>
                  <a:pt x="177735" y="78581"/>
                  <a:pt x="167878" y="78581"/>
                </a:cubicBezTo>
                <a:cubicBezTo>
                  <a:pt x="158021" y="78581"/>
                  <a:pt x="150019" y="70579"/>
                  <a:pt x="150019" y="60722"/>
                </a:cubicBezTo>
                <a:cubicBezTo>
                  <a:pt x="150019" y="50865"/>
                  <a:pt x="158021" y="42863"/>
                  <a:pt x="167878" y="42863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77000" y="1457325"/>
            <a:ext cx="5248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Six Key Takeaways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1250" y="1914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48388" y="19145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86550" y="1914525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 is fundamentally about shared meaning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86550" y="2181225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just symbol manipulation or pattern matching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1250" y="2486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48388" y="24860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86550" y="2486025"/>
            <a:ext cx="392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Ambiguity is inherent to communication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86550" y="2752725"/>
            <a:ext cx="391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rich context, pragmatics, and world knowledge to resolve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91250" y="3057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48388" y="30575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86550" y="3057525"/>
            <a:ext cx="3800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Cultural grounding is essential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86550" y="3324225"/>
            <a:ext cx="3790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requires shared experiences and reference points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1250" y="3629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148388" y="36290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86550" y="3629025"/>
            <a:ext cx="358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 integration enriches capabilities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86550" y="3895725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Vision, audio, and text together enable deeper understanding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1250" y="42005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148388" y="42005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86550" y="4200525"/>
            <a:ext cx="3800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comprehension requires conceptual adoption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686550" y="4467225"/>
            <a:ext cx="3790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 embrace new frameworks, not just translate between them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1250" y="4772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148388" y="4772025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686550" y="4772025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Collaborative learning is most effective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686550" y="5038725"/>
            <a:ext cx="2828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Human-AI partnership outperforms either alone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91250" y="5700713"/>
            <a:ext cx="5419725" cy="9525"/>
          </a:xfrm>
          <a:custGeom>
            <a:avLst/>
            <a:gdLst/>
            <a:ahLst/>
            <a:cxnLst/>
            <a:rect l="l" t="t" r="r" b="b"/>
            <a:pathLst>
              <a:path w="5419725" h="9525">
                <a:moveTo>
                  <a:pt x="0" y="0"/>
                </a:moveTo>
                <a:lnTo>
                  <a:pt x="5419725" y="0"/>
                </a:lnTo>
                <a:lnTo>
                  <a:pt x="54197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9A87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191250" y="5857875"/>
            <a:ext cx="54959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 we build increasingly sophisticated NLP systems, we must remember that the goal is not just mechanical translation, but </a:t>
            </a:r>
            <a:r>
              <a:rPr lang="en-US" sz="1200" b="1" dirty="0">
                <a:solidFill>
                  <a:srgbClr val="C9A8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genuine understanding across diverse modes of expression and thought.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e234d6cf6b230a019feb25ed229d99cba9177c60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90000"/>
                </a:srgbClr>
              </a:gs>
              <a:gs pos="100000">
                <a:srgbClr val="4A6C8C">
                  <a:alpha val="5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648325" y="1038225"/>
            <a:ext cx="895350" cy="895350"/>
          </a:xfrm>
          <a:custGeom>
            <a:avLst/>
            <a:gdLst/>
            <a:ahLst/>
            <a:cxnLst/>
            <a:rect l="l" t="t" r="r" b="b"/>
            <a:pathLst>
              <a:path w="895350" h="895350">
                <a:moveTo>
                  <a:pt x="447675" y="0"/>
                </a:moveTo>
                <a:lnTo>
                  <a:pt x="447675" y="0"/>
                </a:lnTo>
                <a:cubicBezTo>
                  <a:pt x="694754" y="0"/>
                  <a:pt x="895350" y="200596"/>
                  <a:pt x="895350" y="447675"/>
                </a:cubicBezTo>
                <a:lnTo>
                  <a:pt x="895350" y="447675"/>
                </a:lnTo>
                <a:cubicBezTo>
                  <a:pt x="895350" y="694754"/>
                  <a:pt x="694754" y="895350"/>
                  <a:pt x="447675" y="895350"/>
                </a:cubicBezTo>
                <a:lnTo>
                  <a:pt x="447675" y="895350"/>
                </a:lnTo>
                <a:cubicBezTo>
                  <a:pt x="200596" y="895350"/>
                  <a:pt x="0" y="694754"/>
                  <a:pt x="0" y="447675"/>
                </a:cubicBezTo>
                <a:lnTo>
                  <a:pt x="0" y="447675"/>
                </a:lnTo>
                <a:cubicBezTo>
                  <a:pt x="0" y="200596"/>
                  <a:pt x="200596" y="0"/>
                  <a:pt x="447675" y="0"/>
                </a:cubicBezTo>
                <a:close/>
              </a:path>
            </a:pathLst>
          </a:custGeom>
          <a:solidFill>
            <a:srgbClr val="C9A87C">
              <a:alpha val="20000"/>
            </a:srgbClr>
          </a:solidFill>
          <a:ln w="25400">
            <a:solidFill>
              <a:srgbClr val="C9A87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838825" y="12573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42900" y="128588"/>
                </a:moveTo>
                <a:cubicBezTo>
                  <a:pt x="342900" y="215384"/>
                  <a:pt x="266105" y="285750"/>
                  <a:pt x="171450" y="285750"/>
                </a:cubicBezTo>
                <a:cubicBezTo>
                  <a:pt x="147608" y="285750"/>
                  <a:pt x="124926" y="281285"/>
                  <a:pt x="104299" y="273248"/>
                </a:cubicBezTo>
                <a:lnTo>
                  <a:pt x="31433" y="311825"/>
                </a:lnTo>
                <a:cubicBezTo>
                  <a:pt x="23128" y="316200"/>
                  <a:pt x="12948" y="314682"/>
                  <a:pt x="6251" y="308074"/>
                </a:cubicBezTo>
                <a:cubicBezTo>
                  <a:pt x="-446" y="301466"/>
                  <a:pt x="-1965" y="291197"/>
                  <a:pt x="2500" y="282893"/>
                </a:cubicBezTo>
                <a:lnTo>
                  <a:pt x="34290" y="222885"/>
                </a:lnTo>
                <a:cubicBezTo>
                  <a:pt x="12769" y="196632"/>
                  <a:pt x="0" y="163949"/>
                  <a:pt x="0" y="128588"/>
                </a:cubicBezTo>
                <a:cubicBezTo>
                  <a:pt x="0" y="41791"/>
                  <a:pt x="76795" y="-28575"/>
                  <a:pt x="171450" y="-28575"/>
                </a:cubicBezTo>
                <a:cubicBezTo>
                  <a:pt x="266105" y="-28575"/>
                  <a:pt x="342900" y="41791"/>
                  <a:pt x="342900" y="128588"/>
                </a:cubicBezTo>
                <a:close/>
                <a:moveTo>
                  <a:pt x="342900" y="457200"/>
                </a:moveTo>
                <a:cubicBezTo>
                  <a:pt x="258872" y="457200"/>
                  <a:pt x="188952" y="401747"/>
                  <a:pt x="174308" y="328613"/>
                </a:cubicBezTo>
                <a:cubicBezTo>
                  <a:pt x="281464" y="327273"/>
                  <a:pt x="374600" y="251014"/>
                  <a:pt x="384870" y="147608"/>
                </a:cubicBezTo>
                <a:cubicBezTo>
                  <a:pt x="459254" y="164753"/>
                  <a:pt x="514350" y="226457"/>
                  <a:pt x="514350" y="300038"/>
                </a:cubicBezTo>
                <a:cubicBezTo>
                  <a:pt x="514350" y="335399"/>
                  <a:pt x="501581" y="368082"/>
                  <a:pt x="480060" y="394335"/>
                </a:cubicBezTo>
                <a:lnTo>
                  <a:pt x="511850" y="454342"/>
                </a:lnTo>
                <a:cubicBezTo>
                  <a:pt x="516225" y="462647"/>
                  <a:pt x="514707" y="472827"/>
                  <a:pt x="508099" y="479524"/>
                </a:cubicBezTo>
                <a:cubicBezTo>
                  <a:pt x="501491" y="486221"/>
                  <a:pt x="491222" y="487740"/>
                  <a:pt x="482917" y="483275"/>
                </a:cubicBezTo>
                <a:lnTo>
                  <a:pt x="410051" y="444698"/>
                </a:lnTo>
                <a:cubicBezTo>
                  <a:pt x="389424" y="452735"/>
                  <a:pt x="366742" y="457200"/>
                  <a:pt x="342900" y="457200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334173" y="2476500"/>
            <a:ext cx="3524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33909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022527" y="3705225"/>
            <a:ext cx="4258357" cy="29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8D99AE"/>
                </a:solidFill>
                <a:latin typeface="Sorts Mill Goudy" pitchFamily="34" charset="0"/>
              </a:rPr>
              <a:t>Created By: Christen Robinson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25217" y="4538663"/>
            <a:ext cx="1905000" cy="1285875"/>
          </a:xfrm>
          <a:custGeom>
            <a:avLst/>
            <a:gdLst/>
            <a:ahLst/>
            <a:cxnLst/>
            <a:rect l="l" t="t" r="r" b="b"/>
            <a:pathLst>
              <a:path w="1905000" h="1285875">
                <a:moveTo>
                  <a:pt x="76201" y="0"/>
                </a:moveTo>
                <a:lnTo>
                  <a:pt x="1828799" y="0"/>
                </a:lnTo>
                <a:cubicBezTo>
                  <a:pt x="1870884" y="0"/>
                  <a:pt x="1905000" y="34116"/>
                  <a:pt x="1905000" y="76201"/>
                </a:cubicBezTo>
                <a:lnTo>
                  <a:pt x="1905000" y="1209674"/>
                </a:lnTo>
                <a:cubicBezTo>
                  <a:pt x="1905000" y="1251759"/>
                  <a:pt x="1870884" y="1285875"/>
                  <a:pt x="1828799" y="1285875"/>
                </a:cubicBezTo>
                <a:lnTo>
                  <a:pt x="76201" y="1285875"/>
                </a:lnTo>
                <a:cubicBezTo>
                  <a:pt x="34116" y="1285875"/>
                  <a:pt x="0" y="1251759"/>
                  <a:pt x="0" y="1209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736777" y="47339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89" y="35719"/>
                </a:moveTo>
                <a:cubicBezTo>
                  <a:pt x="11999" y="35719"/>
                  <a:pt x="0" y="47718"/>
                  <a:pt x="0" y="62508"/>
                </a:cubicBezTo>
                <a:cubicBezTo>
                  <a:pt x="0" y="70935"/>
                  <a:pt x="3963" y="78860"/>
                  <a:pt x="10716" y="83939"/>
                </a:cubicBezTo>
                <a:lnTo>
                  <a:pt x="126802" y="171004"/>
                </a:lnTo>
                <a:cubicBezTo>
                  <a:pt x="136345" y="178147"/>
                  <a:pt x="149405" y="178147"/>
                  <a:pt x="158948" y="171004"/>
                </a:cubicBezTo>
                <a:lnTo>
                  <a:pt x="275034" y="83939"/>
                </a:lnTo>
                <a:cubicBezTo>
                  <a:pt x="281787" y="78860"/>
                  <a:pt x="285750" y="70935"/>
                  <a:pt x="285750" y="62508"/>
                </a:cubicBezTo>
                <a:cubicBezTo>
                  <a:pt x="285750" y="47718"/>
                  <a:pt x="273751" y="35719"/>
                  <a:pt x="258961" y="35719"/>
                </a:cubicBezTo>
                <a:lnTo>
                  <a:pt x="26789" y="35719"/>
                </a:lnTo>
                <a:close/>
                <a:moveTo>
                  <a:pt x="0" y="109389"/>
                </a:moveTo>
                <a:lnTo>
                  <a:pt x="0" y="214313"/>
                </a:lnTo>
                <a:cubicBezTo>
                  <a:pt x="0" y="234014"/>
                  <a:pt x="16018" y="250031"/>
                  <a:pt x="35719" y="250031"/>
                </a:cubicBezTo>
                <a:lnTo>
                  <a:pt x="250031" y="250031"/>
                </a:lnTo>
                <a:cubicBezTo>
                  <a:pt x="269732" y="250031"/>
                  <a:pt x="285750" y="234014"/>
                  <a:pt x="285750" y="214313"/>
                </a:cubicBezTo>
                <a:lnTo>
                  <a:pt x="285750" y="109389"/>
                </a:lnTo>
                <a:lnTo>
                  <a:pt x="175022" y="192435"/>
                </a:lnTo>
                <a:cubicBezTo>
                  <a:pt x="155990" y="206722"/>
                  <a:pt x="129760" y="206722"/>
                  <a:pt x="110728" y="192435"/>
                </a:cubicBezTo>
                <a:lnTo>
                  <a:pt x="0" y="109389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077617" y="5133975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082379" y="5400675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</a:rPr>
              <a:t>Phone: (346)-636-9380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143798" y="4538663"/>
            <a:ext cx="1905000" cy="1285875"/>
          </a:xfrm>
          <a:custGeom>
            <a:avLst/>
            <a:gdLst/>
            <a:ahLst/>
            <a:cxnLst/>
            <a:rect l="l" t="t" r="r" b="b"/>
            <a:pathLst>
              <a:path w="1905000" h="1285875">
                <a:moveTo>
                  <a:pt x="76201" y="0"/>
                </a:moveTo>
                <a:lnTo>
                  <a:pt x="1828799" y="0"/>
                </a:lnTo>
                <a:cubicBezTo>
                  <a:pt x="1870884" y="0"/>
                  <a:pt x="1905000" y="34116"/>
                  <a:pt x="1905000" y="76201"/>
                </a:cubicBezTo>
                <a:lnTo>
                  <a:pt x="1905000" y="1209674"/>
                </a:lnTo>
                <a:cubicBezTo>
                  <a:pt x="1905000" y="1251759"/>
                  <a:pt x="1870884" y="1285875"/>
                  <a:pt x="1828799" y="1285875"/>
                </a:cubicBezTo>
                <a:lnTo>
                  <a:pt x="76201" y="1285875"/>
                </a:lnTo>
                <a:cubicBezTo>
                  <a:pt x="34116" y="1285875"/>
                  <a:pt x="0" y="1251759"/>
                  <a:pt x="0" y="1209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973217" y="47339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14313" y="285750"/>
                </a:moveTo>
                <a:lnTo>
                  <a:pt x="53578" y="285750"/>
                </a:lnTo>
                <a:cubicBezTo>
                  <a:pt x="23999" y="285750"/>
                  <a:pt x="0" y="261751"/>
                  <a:pt x="0" y="232172"/>
                </a:cubicBezTo>
                <a:lnTo>
                  <a:pt x="0" y="53578"/>
                </a:lnTo>
                <a:cubicBezTo>
                  <a:pt x="0" y="23999"/>
                  <a:pt x="23999" y="0"/>
                  <a:pt x="53578" y="0"/>
                </a:cubicBezTo>
                <a:lnTo>
                  <a:pt x="223242" y="0"/>
                </a:lnTo>
                <a:cubicBezTo>
                  <a:pt x="238032" y="0"/>
                  <a:pt x="250031" y="11999"/>
                  <a:pt x="250031" y="26789"/>
                </a:cubicBezTo>
                <a:lnTo>
                  <a:pt x="250031" y="187523"/>
                </a:lnTo>
                <a:cubicBezTo>
                  <a:pt x="250031" y="199188"/>
                  <a:pt x="242553" y="209122"/>
                  <a:pt x="232172" y="212806"/>
                </a:cubicBezTo>
                <a:lnTo>
                  <a:pt x="232172" y="250031"/>
                </a:lnTo>
                <a:cubicBezTo>
                  <a:pt x="242050" y="250031"/>
                  <a:pt x="250031" y="258012"/>
                  <a:pt x="250031" y="267891"/>
                </a:cubicBezTo>
                <a:cubicBezTo>
                  <a:pt x="250031" y="277769"/>
                  <a:pt x="242050" y="285750"/>
                  <a:pt x="232172" y="285750"/>
                </a:cubicBezTo>
                <a:lnTo>
                  <a:pt x="214313" y="285750"/>
                </a:lnTo>
                <a:close/>
                <a:moveTo>
                  <a:pt x="53578" y="214313"/>
                </a:moveTo>
                <a:cubicBezTo>
                  <a:pt x="43700" y="214313"/>
                  <a:pt x="35719" y="222293"/>
                  <a:pt x="35719" y="232172"/>
                </a:cubicBezTo>
                <a:cubicBezTo>
                  <a:pt x="35719" y="242050"/>
                  <a:pt x="43700" y="250031"/>
                  <a:pt x="53578" y="250031"/>
                </a:cubicBezTo>
                <a:lnTo>
                  <a:pt x="196453" y="250031"/>
                </a:lnTo>
                <a:lnTo>
                  <a:pt x="196453" y="214313"/>
                </a:lnTo>
                <a:lnTo>
                  <a:pt x="53578" y="214313"/>
                </a:lnTo>
                <a:close/>
                <a:moveTo>
                  <a:pt x="71438" y="84832"/>
                </a:moveTo>
                <a:cubicBezTo>
                  <a:pt x="71438" y="92255"/>
                  <a:pt x="77409" y="98227"/>
                  <a:pt x="84832" y="98227"/>
                </a:cubicBezTo>
                <a:lnTo>
                  <a:pt x="183059" y="98227"/>
                </a:lnTo>
                <a:cubicBezTo>
                  <a:pt x="190481" y="98227"/>
                  <a:pt x="196453" y="92255"/>
                  <a:pt x="196453" y="84832"/>
                </a:cubicBezTo>
                <a:cubicBezTo>
                  <a:pt x="196453" y="77409"/>
                  <a:pt x="190481" y="71438"/>
                  <a:pt x="183059" y="71438"/>
                </a:cubicBezTo>
                <a:lnTo>
                  <a:pt x="84832" y="71438"/>
                </a:lnTo>
                <a:cubicBezTo>
                  <a:pt x="77409" y="71438"/>
                  <a:pt x="71438" y="77409"/>
                  <a:pt x="71438" y="84832"/>
                </a:cubicBezTo>
                <a:close/>
                <a:moveTo>
                  <a:pt x="84832" y="125016"/>
                </a:moveTo>
                <a:cubicBezTo>
                  <a:pt x="77409" y="125016"/>
                  <a:pt x="71438" y="130987"/>
                  <a:pt x="71438" y="138410"/>
                </a:cubicBezTo>
                <a:cubicBezTo>
                  <a:pt x="71438" y="145833"/>
                  <a:pt x="77409" y="151805"/>
                  <a:pt x="84832" y="151805"/>
                </a:cubicBezTo>
                <a:lnTo>
                  <a:pt x="183059" y="151805"/>
                </a:lnTo>
                <a:cubicBezTo>
                  <a:pt x="190481" y="151805"/>
                  <a:pt x="196453" y="145833"/>
                  <a:pt x="196453" y="138410"/>
                </a:cubicBezTo>
                <a:cubicBezTo>
                  <a:pt x="196453" y="130987"/>
                  <a:pt x="190481" y="125016"/>
                  <a:pt x="183059" y="125016"/>
                </a:cubicBezTo>
                <a:lnTo>
                  <a:pt x="84832" y="125016"/>
                </a:ln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96198" y="5133975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300960" y="5400675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Available upon request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62379" y="4538663"/>
            <a:ext cx="1905000" cy="1285875"/>
          </a:xfrm>
          <a:custGeom>
            <a:avLst/>
            <a:gdLst/>
            <a:ahLst/>
            <a:cxnLst/>
            <a:rect l="l" t="t" r="r" b="b"/>
            <a:pathLst>
              <a:path w="1905000" h="1285875">
                <a:moveTo>
                  <a:pt x="76201" y="0"/>
                </a:moveTo>
                <a:lnTo>
                  <a:pt x="1828799" y="0"/>
                </a:lnTo>
                <a:cubicBezTo>
                  <a:pt x="1870884" y="0"/>
                  <a:pt x="1905000" y="34116"/>
                  <a:pt x="1905000" y="76201"/>
                </a:cubicBezTo>
                <a:lnTo>
                  <a:pt x="1905000" y="1209674"/>
                </a:lnTo>
                <a:cubicBezTo>
                  <a:pt x="1905000" y="1251759"/>
                  <a:pt x="1870884" y="1285875"/>
                  <a:pt x="1828799" y="1285875"/>
                </a:cubicBezTo>
                <a:lnTo>
                  <a:pt x="76201" y="1285875"/>
                </a:lnTo>
                <a:cubicBezTo>
                  <a:pt x="34116" y="1285875"/>
                  <a:pt x="0" y="1251759"/>
                  <a:pt x="0" y="12096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138220" y="47339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96453" y="0"/>
                </a:moveTo>
                <a:cubicBezTo>
                  <a:pt x="196453" y="-9878"/>
                  <a:pt x="188472" y="-17859"/>
                  <a:pt x="178594" y="-17859"/>
                </a:cubicBezTo>
                <a:cubicBezTo>
                  <a:pt x="168715" y="-17859"/>
                  <a:pt x="160734" y="-9878"/>
                  <a:pt x="160734" y="0"/>
                </a:cubicBezTo>
                <a:lnTo>
                  <a:pt x="160734" y="35719"/>
                </a:lnTo>
                <a:lnTo>
                  <a:pt x="107156" y="35719"/>
                </a:lnTo>
                <a:cubicBezTo>
                  <a:pt x="77577" y="35719"/>
                  <a:pt x="53578" y="59717"/>
                  <a:pt x="53578" y="89297"/>
                </a:cubicBezTo>
                <a:lnTo>
                  <a:pt x="53578" y="214313"/>
                </a:lnTo>
                <a:cubicBezTo>
                  <a:pt x="53578" y="243892"/>
                  <a:pt x="77577" y="267891"/>
                  <a:pt x="107156" y="267891"/>
                </a:cubicBezTo>
                <a:lnTo>
                  <a:pt x="250031" y="267891"/>
                </a:lnTo>
                <a:cubicBezTo>
                  <a:pt x="279611" y="267891"/>
                  <a:pt x="303609" y="243892"/>
                  <a:pt x="303609" y="214313"/>
                </a:cubicBezTo>
                <a:lnTo>
                  <a:pt x="303609" y="89297"/>
                </a:lnTo>
                <a:cubicBezTo>
                  <a:pt x="303609" y="59717"/>
                  <a:pt x="279611" y="35719"/>
                  <a:pt x="250031" y="35719"/>
                </a:cubicBezTo>
                <a:lnTo>
                  <a:pt x="196453" y="35719"/>
                </a:lnTo>
                <a:lnTo>
                  <a:pt x="196453" y="0"/>
                </a:lnTo>
                <a:close/>
                <a:moveTo>
                  <a:pt x="89297" y="205383"/>
                </a:moveTo>
                <a:cubicBezTo>
                  <a:pt x="89297" y="197960"/>
                  <a:pt x="95269" y="191988"/>
                  <a:pt x="102691" y="191988"/>
                </a:cubicBezTo>
                <a:lnTo>
                  <a:pt x="120551" y="191988"/>
                </a:lnTo>
                <a:cubicBezTo>
                  <a:pt x="127974" y="191988"/>
                  <a:pt x="133945" y="197960"/>
                  <a:pt x="133945" y="205383"/>
                </a:cubicBezTo>
                <a:cubicBezTo>
                  <a:pt x="133945" y="212806"/>
                  <a:pt x="127974" y="218777"/>
                  <a:pt x="120551" y="218777"/>
                </a:cubicBezTo>
                <a:lnTo>
                  <a:pt x="102691" y="218777"/>
                </a:lnTo>
                <a:cubicBezTo>
                  <a:pt x="95269" y="218777"/>
                  <a:pt x="89297" y="212806"/>
                  <a:pt x="89297" y="205383"/>
                </a:cubicBezTo>
                <a:close/>
                <a:moveTo>
                  <a:pt x="156270" y="205383"/>
                </a:moveTo>
                <a:cubicBezTo>
                  <a:pt x="156270" y="197960"/>
                  <a:pt x="162241" y="191988"/>
                  <a:pt x="169664" y="191988"/>
                </a:cubicBezTo>
                <a:lnTo>
                  <a:pt x="187523" y="191988"/>
                </a:lnTo>
                <a:cubicBezTo>
                  <a:pt x="194946" y="191988"/>
                  <a:pt x="200918" y="197960"/>
                  <a:pt x="200918" y="205383"/>
                </a:cubicBezTo>
                <a:cubicBezTo>
                  <a:pt x="200918" y="212806"/>
                  <a:pt x="194946" y="218777"/>
                  <a:pt x="187523" y="218777"/>
                </a:cubicBezTo>
                <a:lnTo>
                  <a:pt x="169664" y="218777"/>
                </a:lnTo>
                <a:cubicBezTo>
                  <a:pt x="162241" y="218777"/>
                  <a:pt x="156270" y="212806"/>
                  <a:pt x="156270" y="205383"/>
                </a:cubicBezTo>
                <a:close/>
                <a:moveTo>
                  <a:pt x="223242" y="205383"/>
                </a:moveTo>
                <a:cubicBezTo>
                  <a:pt x="223242" y="197960"/>
                  <a:pt x="229214" y="191988"/>
                  <a:pt x="236637" y="191988"/>
                </a:cubicBezTo>
                <a:lnTo>
                  <a:pt x="254496" y="191988"/>
                </a:lnTo>
                <a:cubicBezTo>
                  <a:pt x="261919" y="191988"/>
                  <a:pt x="267891" y="197960"/>
                  <a:pt x="267891" y="205383"/>
                </a:cubicBezTo>
                <a:cubicBezTo>
                  <a:pt x="267891" y="212806"/>
                  <a:pt x="261919" y="218777"/>
                  <a:pt x="254496" y="218777"/>
                </a:cubicBezTo>
                <a:lnTo>
                  <a:pt x="236637" y="218777"/>
                </a:lnTo>
                <a:cubicBezTo>
                  <a:pt x="229214" y="218777"/>
                  <a:pt x="223242" y="212806"/>
                  <a:pt x="223242" y="205383"/>
                </a:cubicBezTo>
                <a:close/>
                <a:moveTo>
                  <a:pt x="125016" y="98227"/>
                </a:moveTo>
                <a:cubicBezTo>
                  <a:pt x="139801" y="98227"/>
                  <a:pt x="151805" y="110230"/>
                  <a:pt x="151805" y="125016"/>
                </a:cubicBezTo>
                <a:cubicBezTo>
                  <a:pt x="151805" y="139801"/>
                  <a:pt x="139801" y="151805"/>
                  <a:pt x="125016" y="151805"/>
                </a:cubicBezTo>
                <a:cubicBezTo>
                  <a:pt x="110230" y="151805"/>
                  <a:pt x="98227" y="139801"/>
                  <a:pt x="98227" y="125016"/>
                </a:cubicBezTo>
                <a:cubicBezTo>
                  <a:pt x="98227" y="110230"/>
                  <a:pt x="110230" y="98227"/>
                  <a:pt x="125016" y="98227"/>
                </a:cubicBezTo>
                <a:close/>
                <a:moveTo>
                  <a:pt x="205383" y="125016"/>
                </a:moveTo>
                <a:cubicBezTo>
                  <a:pt x="205383" y="110230"/>
                  <a:pt x="217387" y="98227"/>
                  <a:pt x="232172" y="98227"/>
                </a:cubicBezTo>
                <a:cubicBezTo>
                  <a:pt x="246957" y="98227"/>
                  <a:pt x="258961" y="110230"/>
                  <a:pt x="258961" y="125016"/>
                </a:cubicBezTo>
                <a:cubicBezTo>
                  <a:pt x="258961" y="139801"/>
                  <a:pt x="246957" y="151805"/>
                  <a:pt x="232172" y="151805"/>
                </a:cubicBezTo>
                <a:cubicBezTo>
                  <a:pt x="217387" y="151805"/>
                  <a:pt x="205383" y="139801"/>
                  <a:pt x="205383" y="125016"/>
                </a:cubicBezTo>
                <a:close/>
                <a:moveTo>
                  <a:pt x="35719" y="125016"/>
                </a:moveTo>
                <a:cubicBezTo>
                  <a:pt x="35719" y="115137"/>
                  <a:pt x="27738" y="107156"/>
                  <a:pt x="17859" y="107156"/>
                </a:cubicBezTo>
                <a:cubicBezTo>
                  <a:pt x="7981" y="107156"/>
                  <a:pt x="0" y="115137"/>
                  <a:pt x="0" y="125016"/>
                </a:cubicBezTo>
                <a:lnTo>
                  <a:pt x="0" y="178594"/>
                </a:lnTo>
                <a:cubicBezTo>
                  <a:pt x="0" y="188472"/>
                  <a:pt x="7981" y="196453"/>
                  <a:pt x="17859" y="196453"/>
                </a:cubicBezTo>
                <a:cubicBezTo>
                  <a:pt x="27738" y="196453"/>
                  <a:pt x="35719" y="188472"/>
                  <a:pt x="35719" y="178594"/>
                </a:cubicBezTo>
                <a:lnTo>
                  <a:pt x="35719" y="125016"/>
                </a:lnTo>
                <a:close/>
                <a:moveTo>
                  <a:pt x="339328" y="107156"/>
                </a:moveTo>
                <a:cubicBezTo>
                  <a:pt x="329450" y="107156"/>
                  <a:pt x="321469" y="115137"/>
                  <a:pt x="321469" y="125016"/>
                </a:cubicBezTo>
                <a:lnTo>
                  <a:pt x="321469" y="178594"/>
                </a:lnTo>
                <a:cubicBezTo>
                  <a:pt x="321469" y="188472"/>
                  <a:pt x="329450" y="196453"/>
                  <a:pt x="339328" y="196453"/>
                </a:cubicBezTo>
                <a:cubicBezTo>
                  <a:pt x="349207" y="196453"/>
                  <a:pt x="357188" y="188472"/>
                  <a:pt x="357188" y="178594"/>
                </a:cubicBezTo>
                <a:lnTo>
                  <a:pt x="357188" y="125016"/>
                </a:lnTo>
                <a:cubicBezTo>
                  <a:pt x="357188" y="115137"/>
                  <a:pt x="349207" y="107156"/>
                  <a:pt x="339328" y="107156"/>
                </a:cubicBezTo>
                <a:close/>
              </a:path>
            </a:pathLst>
          </a:custGeom>
          <a:solidFill>
            <a:srgbClr val="C9A8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514779" y="5133975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NLP Resources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19541" y="5400675"/>
            <a:ext cx="1590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 &amp; datasets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2354</Words>
  <Application>Microsoft Office PowerPoint</Application>
  <PresentationFormat>Widescreen</PresentationFormat>
  <Paragraphs>371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Liter</vt:lpstr>
      <vt:lpstr>Arial</vt:lpstr>
      <vt:lpstr>Sorts Mill Goudy</vt:lpstr>
      <vt:lpstr>微软雅黑</vt:lpstr>
      <vt:lpstr>Quattrocento Sans</vt:lpstr>
      <vt:lpstr>Oranienbaum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ARRIVAL: A Natural Language Processing Perspective</dc:title>
  <dc:subject>ARRIVAL: A Natural Language Processing Perspective</dc:subject>
  <dc:creator>Kimi</dc:creator>
  <cp:lastModifiedBy>Christen Robinson</cp:lastModifiedBy>
  <cp:revision>3</cp:revision>
  <dcterms:created xsi:type="dcterms:W3CDTF">2026-02-08T20:04:23Z</dcterms:created>
  <dcterms:modified xsi:type="dcterms:W3CDTF">2026-02-08T20:13:08Z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{"Label":"ARRIVAL: A Natural Language Processing Perspective","ContentProducer":"001191110108MACG2KBH8F10000","ProduceID":"19c3eb1e-a4c2-8a35-8000-000023498b06","ReservedCode1":"","ContentPropagator":"001191110108MACG2KBH8F20000","PropagateID":"19c3eb1e-a4c2-8a35-8000-000023498b06","ReservedCode2":""}</vt:lpwstr>
  </property>
</Properties>
</file>